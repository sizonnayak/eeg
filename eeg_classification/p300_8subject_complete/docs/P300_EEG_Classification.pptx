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3"/>
  </p:normalViewPr>
  <p:slideViewPr>
    <p:cSldViewPr snapToGrid="0" snapToObjects="1">
      <p:cViewPr varScale="1">
        <p:scale>
          <a:sx n="113" d="100"/>
          <a:sy n="113" d="100"/>
        </p:scale>
        <p:origin x="71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P300 EEG-Based BCI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B4D8"/>
                </a:solidFill>
                <a:latin typeface="Calibri"/>
              </a:rPr>
              <a:t>Cross-Subject Classification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788920"/>
            <a:ext cx="57607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0C4DE"/>
                </a:solidFill>
                <a:latin typeface="Calibri"/>
              </a:rPr>
              <a:t>v1  →  v3  →  v4  →  Threshold Calibration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C4DE"/>
                </a:solidFill>
                <a:latin typeface="Calibri"/>
              </a:rPr>
              <a:t>M.Tech Project  |  Department of AI &amp; Data Science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08090"/>
                </a:solidFill>
                <a:latin typeface="Calibri"/>
              </a:rPr>
              <a:t>2025 –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080"/>
                </a:solidFill>
                <a:latin typeface="Calibri"/>
              </a:rPr>
              <a:t>M.Tech Project  |  P300 EEG Classification  |  2025-26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What is P300?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  <a:latin typeface="Calibri"/>
              </a:rPr>
              <a:t>An ERP component used as a brain–computer interface signal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303520" cy="5303520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The P300 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5087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1400" b="0">
                <a:solidFill>
                  <a:srgbClr val="B0C4DE"/>
                </a:solidFill>
                <a:latin typeface="Calibri"/>
              </a:rPr>
              <a:t>The P300 is a positive EEG deflection ~300 ms after a rare, attended stimulus.</a:t>
            </a:r>
          </a:p>
          <a:p>
            <a:pPr algn="l">
              <a:lnSpc>
                <a:spcPct val="114999"/>
              </a:lnSpc>
            </a:pPr>
            <a:endParaRPr sz="1400" b="0">
              <a:solidFill>
                <a:srgbClr val="B0C4DE"/>
              </a:solidFill>
              <a:latin typeface="Calibri"/>
            </a:endParaRPr>
          </a:p>
          <a:p>
            <a:pPr algn="l">
              <a:lnSpc>
                <a:spcPct val="114999"/>
              </a:lnSpc>
            </a:pPr>
            <a:r>
              <a:rPr sz="1400" b="1">
                <a:solidFill>
                  <a:srgbClr val="00B4D8"/>
                </a:solidFill>
                <a:latin typeface="Calibri"/>
              </a:rPr>
              <a:t>In a P300 Speller:</a:t>
            </a:r>
          </a:p>
          <a:p>
            <a:pPr algn="l">
              <a:lnSpc>
                <a:spcPct val="114999"/>
              </a:lnSpc>
            </a:pPr>
            <a:r>
              <a:rPr sz="1400" b="0">
                <a:solidFill>
                  <a:srgbClr val="B0C4DE"/>
                </a:solidFill>
                <a:latin typeface="Calibri"/>
              </a:rPr>
              <a:t>  • A 6×6 letter matrix flashes rows and columns</a:t>
            </a:r>
          </a:p>
          <a:p>
            <a:pPr algn="l">
              <a:lnSpc>
                <a:spcPct val="114999"/>
              </a:lnSpc>
            </a:pPr>
            <a:r>
              <a:rPr sz="1400" b="0">
                <a:solidFill>
                  <a:srgbClr val="B0C4DE"/>
                </a:solidFill>
                <a:latin typeface="Calibri"/>
              </a:rPr>
              <a:t>  • The row/column containing the target letter evokes P300</a:t>
            </a:r>
          </a:p>
          <a:p>
            <a:pPr algn="l">
              <a:lnSpc>
                <a:spcPct val="114999"/>
              </a:lnSpc>
            </a:pPr>
            <a:r>
              <a:rPr sz="1400" b="0">
                <a:solidFill>
                  <a:srgbClr val="B0C4DE"/>
                </a:solidFill>
                <a:latin typeface="Calibri"/>
              </a:rPr>
              <a:t>  • Non-target flashes produce no P300</a:t>
            </a:r>
          </a:p>
          <a:p>
            <a:pPr algn="l">
              <a:lnSpc>
                <a:spcPct val="114999"/>
              </a:lnSpc>
            </a:pPr>
            <a:endParaRPr sz="1400" b="0">
              <a:solidFill>
                <a:srgbClr val="B0C4DE"/>
              </a:solidFill>
              <a:latin typeface="Calibri"/>
            </a:endParaRPr>
          </a:p>
          <a:p>
            <a:pPr algn="l">
              <a:lnSpc>
                <a:spcPct val="114999"/>
              </a:lnSpc>
            </a:pPr>
            <a:r>
              <a:rPr sz="1400" b="1">
                <a:solidFill>
                  <a:srgbClr val="00B4D8"/>
                </a:solidFill>
                <a:latin typeface="Calibri"/>
              </a:rPr>
              <a:t>Key properties:</a:t>
            </a:r>
          </a:p>
          <a:p>
            <a:pPr algn="l">
              <a:lnSpc>
                <a:spcPct val="114999"/>
              </a:lnSpc>
            </a:pPr>
            <a:r>
              <a:rPr sz="1400" b="0">
                <a:solidFill>
                  <a:srgbClr val="B0C4DE"/>
                </a:solidFill>
                <a:latin typeface="Calibri"/>
              </a:rPr>
              <a:t>  • Latency: 200–500 ms post-stimulus</a:t>
            </a:r>
          </a:p>
          <a:p>
            <a:pPr algn="l">
              <a:lnSpc>
                <a:spcPct val="114999"/>
              </a:lnSpc>
            </a:pPr>
            <a:r>
              <a:rPr sz="1400" b="0">
                <a:solidFill>
                  <a:srgbClr val="B0C4DE"/>
                </a:solidFill>
                <a:latin typeface="Calibri"/>
              </a:rPr>
              <a:t>  • Amplitude: 5–10 µV above baseline</a:t>
            </a:r>
          </a:p>
          <a:p>
            <a:pPr algn="l">
              <a:lnSpc>
                <a:spcPct val="114999"/>
              </a:lnSpc>
            </a:pPr>
            <a:r>
              <a:rPr sz="1400" b="0">
                <a:solidFill>
                  <a:srgbClr val="B0C4DE"/>
                </a:solidFill>
                <a:latin typeface="Calibri"/>
              </a:rPr>
              <a:t>  • Maximal at Pz (central-parietal)</a:t>
            </a:r>
          </a:p>
          <a:p>
            <a:pPr algn="l">
              <a:lnSpc>
                <a:spcPct val="114999"/>
              </a:lnSpc>
            </a:pPr>
            <a:r>
              <a:rPr sz="1400" b="0">
                <a:solidFill>
                  <a:srgbClr val="B0C4DE"/>
                </a:solidFill>
                <a:latin typeface="Calibri"/>
              </a:rPr>
              <a:t>  • Highly variable across subjects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0" y="1097280"/>
            <a:ext cx="6035040" cy="2377440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0" y="1170432"/>
            <a:ext cx="5852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Dataset (BCI Competition II, DS II)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508760"/>
            <a:ext cx="5669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1400" b="0">
                <a:solidFill>
                  <a:srgbClr val="B0C4DE"/>
                </a:solidFill>
                <a:latin typeface="Calibri"/>
              </a:rPr>
              <a:t>  8 subjects,  8 EEG channels,  250 Hz</a:t>
            </a:r>
          </a:p>
          <a:p>
            <a:pPr algn="l">
              <a:lnSpc>
                <a:spcPct val="114999"/>
              </a:lnSpc>
            </a:pPr>
            <a:r>
              <a:rPr sz="1400" b="0">
                <a:solidFill>
                  <a:srgbClr val="B0C4DE"/>
                </a:solidFill>
                <a:latin typeface="Calibri"/>
              </a:rPr>
              <a:t>  Epoch window:  −200 ms  to  +800 ms</a:t>
            </a:r>
          </a:p>
          <a:p>
            <a:pPr algn="l">
              <a:lnSpc>
                <a:spcPct val="114999"/>
              </a:lnSpc>
            </a:pPr>
            <a:r>
              <a:rPr sz="1400" b="0">
                <a:solidFill>
                  <a:srgbClr val="B0C4DE"/>
                </a:solidFill>
                <a:latin typeface="Calibri"/>
              </a:rPr>
              <a:t>  Total epochs:  33,489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3611880"/>
            <a:ext cx="2651760" cy="1188720"/>
          </a:xfrm>
          <a:prstGeom prst="rect">
            <a:avLst/>
          </a:prstGeom>
          <a:solidFill>
            <a:srgbClr val="0A29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89320" y="36850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TARGET epochs  (y = 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90448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6D6A0"/>
                </a:solidFill>
                <a:latin typeface="Calibri"/>
              </a:rPr>
              <a:t>5,575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43616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Calibri"/>
              </a:rPr>
              <a:t>16.65% — P300-evoking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3611880"/>
            <a:ext cx="2834640" cy="1188720"/>
          </a:xfrm>
          <a:prstGeom prst="rect">
            <a:avLst/>
          </a:prstGeom>
          <a:solidFill>
            <a:srgbClr val="0A29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23960" y="36850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NON-TARGET  (y = 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390448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A000"/>
                </a:solidFill>
                <a:latin typeface="Calibri"/>
              </a:rPr>
              <a:t>27,914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436168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Calibri"/>
              </a:rPr>
              <a:t>83.35% — frequent flashes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4937760"/>
            <a:ext cx="6035040" cy="868680"/>
          </a:xfrm>
          <a:prstGeom prst="rect">
            <a:avLst/>
          </a:prstGeom>
          <a:solidFill>
            <a:srgbClr val="3A1010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89320" y="5010912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CCCC"/>
                </a:solidFill>
                <a:latin typeface="Calibri"/>
              </a:rPr>
              <a:t>⚠  83:17 class imbalance — accuracy alone is misleading.
    Use Balanced Accuracy, ROC-AUC, and PR-AUC.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080"/>
                </a:solidFill>
                <a:latin typeface="Calibri"/>
              </a:rPr>
              <a:t>M.Tech Project  |  P300 EEG Classification  |  2025-26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Pipeline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  <a:latin typeface="Calibri"/>
              </a:rPr>
              <a:t>Four versions built progressively to tackle cross-subject generalisation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2651760" cy="2560320"/>
          </a:xfrm>
          <a:prstGeom prst="rect">
            <a:avLst/>
          </a:prstGeom>
          <a:solidFill>
            <a:srgbClr val="0F3F6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0B4D8"/>
                </a:solidFill>
                <a:latin typeface="Calibri"/>
              </a:rPr>
              <a:t>PREPROCESS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19" y="1965960"/>
            <a:ext cx="54864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  <a:latin typeface="Calibri"/>
              </a:rPr>
              <a:t>0.1–30 Hz bandpass
Common Average Ref
Epoch: −200 to +800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35808" y="24688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1463040"/>
            <a:ext cx="2651760" cy="2560320"/>
          </a:xfrm>
          <a:prstGeom prst="rect">
            <a:avLst/>
          </a:prstGeom>
          <a:solidFill>
            <a:srgbClr val="0F3F6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01568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0B4D8"/>
                </a:solidFill>
                <a:latin typeface="Calibri"/>
              </a:rPr>
              <a:t>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1688" y="1965960"/>
            <a:ext cx="54864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01568" y="205740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  <a:latin typeface="Calibri"/>
              </a:rPr>
              <a:t>Crop 200–500 ms
Bin average (5 ms)
120-dim or Riemannian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0176" y="24688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4496" y="1463040"/>
            <a:ext cx="2651760" cy="2560320"/>
          </a:xfrm>
          <a:prstGeom prst="rect">
            <a:avLst/>
          </a:prstGeom>
          <a:solidFill>
            <a:srgbClr val="0F3F6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45936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0B4D8"/>
                </a:solidFill>
                <a:latin typeface="Calibri"/>
              </a:rPr>
              <a:t>CLASSIFY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06056" y="1965960"/>
            <a:ext cx="54864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45936" y="205740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  <a:latin typeface="Calibri"/>
              </a:rPr>
              <a:t>rLDA  /  SVC
Stratified 5-Fold WS
LOSO cross-subject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24544" y="24688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98864" y="1463040"/>
            <a:ext cx="2651760" cy="2560320"/>
          </a:xfrm>
          <a:prstGeom prst="rect">
            <a:avLst/>
          </a:prstGeom>
          <a:solidFill>
            <a:srgbClr val="0F3F6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90304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0B4D8"/>
                </a:solidFill>
                <a:latin typeface="Calibri"/>
              </a:rPr>
              <a:t>CALIBRATE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50424" y="1965960"/>
            <a:ext cx="54864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90304" y="205740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  <a:latin typeface="Calibri"/>
              </a:rPr>
              <a:t>Youden's J threshold
10% held-out val
Fix BAcc collapse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251960"/>
            <a:ext cx="11430000" cy="36576"/>
          </a:xfrm>
          <a:prstGeom prst="rect">
            <a:avLst/>
          </a:prstGeom>
          <a:solidFill>
            <a:srgbClr val="3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20" y="4114800"/>
            <a:ext cx="73152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82880" y="4480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  <a:latin typeface="Calibri"/>
              </a:rPr>
              <a:t>v1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" y="4828032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Raw bins
120-dim rLDA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4114800"/>
            <a:ext cx="73152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97479" y="4480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  <a:latin typeface="Calibri"/>
              </a:rPr>
              <a:t>v3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4828032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xDAWN sweep
k=0,2,4,6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4114800"/>
            <a:ext cx="73152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69280" y="4480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  <a:latin typeface="Calibri"/>
              </a:rPr>
              <a:t>v4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2120" y="4828032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Riemannian
EA + TS + rLDA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61120" y="4114800"/>
            <a:ext cx="73152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41080" y="4480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  <a:latin typeface="Calibri"/>
              </a:rPr>
              <a:t>v4+cal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4828032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Youden's J
calibration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080"/>
                </a:solidFill>
                <a:latin typeface="Calibri"/>
              </a:rPr>
              <a:t>M.Tech Project  |  P300 EEG Classification  |  2025-26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Critical Finding: Label Inversion Bug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  <a:latin typeface="Calibri"/>
              </a:rPr>
              <a:t>Original code assigned y=1 to NON-TARGET — silently flipped all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1612880" cy="960120"/>
          </a:xfrm>
          <a:prstGeom prst="rect">
            <a:avLst/>
          </a:prstGeom>
          <a:solidFill>
            <a:srgbClr val="3A0808"/>
          </a:solidFill>
          <a:ln w="254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CCC"/>
                </a:solidFill>
                <a:latin typeface="Calibri"/>
              </a:rPr>
              <a:t>flash[:, 3] encodes:   1 = NON-TARGET (frequent, 83%)     2 = TARGET (P300-evoking, 17%)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9999"/>
                </a:solidFill>
                <a:latin typeface="Calibri"/>
              </a:rPr>
              <a:t>Original code used  flash[i,3] == 1  as the positive class — the model was learning to detect NON-targets.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40280"/>
            <a:ext cx="5486400" cy="2103120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23134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76F"/>
                </a:solidFill>
                <a:latin typeface="Calibri"/>
              </a:rPr>
              <a:t>BEFORE  (wrong)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65176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1400" b="0">
                <a:solidFill>
                  <a:srgbClr val="B0C4DE"/>
                </a:solidFill>
                <a:latin typeface="Calibri"/>
              </a:rPr>
              <a:t>labels.append(</a:t>
            </a:r>
          </a:p>
          <a:p>
            <a:pPr algn="l">
              <a:lnSpc>
                <a:spcPct val="114999"/>
              </a:lnSpc>
            </a:pPr>
            <a:r>
              <a:rPr sz="1400" b="0">
                <a:solidFill>
                  <a:srgbClr val="EF476F"/>
                </a:solidFill>
                <a:latin typeface="Calibri"/>
              </a:rPr>
              <a:t>    1 if flash[i, 3] == 1 else 0</a:t>
            </a:r>
          </a:p>
          <a:p>
            <a:pPr algn="l">
              <a:lnSpc>
                <a:spcPct val="114999"/>
              </a:lnSpc>
            </a:pPr>
            <a:r>
              <a:rPr sz="1400" b="0">
                <a:solidFill>
                  <a:srgbClr val="B0C4DE"/>
                </a:solidFill>
                <a:latin typeface="Calibri"/>
              </a:rPr>
              <a:t>)</a:t>
            </a:r>
          </a:p>
          <a:p>
            <a:pPr algn="l">
              <a:lnSpc>
                <a:spcPct val="114999"/>
              </a:lnSpc>
            </a:pPr>
            <a:endParaRPr sz="1400" b="0">
              <a:solidFill>
                <a:srgbClr val="B0C4DE"/>
              </a:solidFill>
              <a:latin typeface="Calibri"/>
            </a:endParaRPr>
          </a:p>
          <a:p>
            <a:pPr algn="l">
              <a:lnSpc>
                <a:spcPct val="114999"/>
              </a:lnSpc>
            </a:pPr>
            <a:r>
              <a:rPr sz="1400" b="1">
                <a:solidFill>
                  <a:srgbClr val="EF476F"/>
                </a:solidFill>
                <a:latin typeface="Calibri"/>
              </a:rPr>
              <a:t>→ y=1 assigned to NON-TARGET (83%)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240280"/>
            <a:ext cx="5852160" cy="2103120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79" y="231343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D6A0"/>
                </a:solidFill>
                <a:latin typeface="Calibri"/>
              </a:rPr>
              <a:t>AFTER  (correct)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65176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1400" b="0">
                <a:solidFill>
                  <a:srgbClr val="B0C4DE"/>
                </a:solidFill>
                <a:latin typeface="Calibri"/>
              </a:rPr>
              <a:t>labels.append(</a:t>
            </a:r>
          </a:p>
          <a:p>
            <a:pPr algn="l">
              <a:lnSpc>
                <a:spcPct val="114999"/>
              </a:lnSpc>
            </a:pPr>
            <a:r>
              <a:rPr sz="1400" b="0">
                <a:solidFill>
                  <a:srgbClr val="06D6A0"/>
                </a:solidFill>
                <a:latin typeface="Calibri"/>
              </a:rPr>
              <a:t>    1 if flash[i, 3] == 2 else 0</a:t>
            </a:r>
          </a:p>
          <a:p>
            <a:pPr algn="l">
              <a:lnSpc>
                <a:spcPct val="114999"/>
              </a:lnSpc>
            </a:pPr>
            <a:r>
              <a:rPr sz="1400" b="0">
                <a:solidFill>
                  <a:srgbClr val="B0C4DE"/>
                </a:solidFill>
                <a:latin typeface="Calibri"/>
              </a:rPr>
              <a:t>)</a:t>
            </a:r>
          </a:p>
          <a:p>
            <a:pPr algn="l">
              <a:lnSpc>
                <a:spcPct val="114999"/>
              </a:lnSpc>
            </a:pPr>
            <a:endParaRPr sz="1400" b="0">
              <a:solidFill>
                <a:srgbClr val="B0C4DE"/>
              </a:solidFill>
              <a:latin typeface="Calibri"/>
            </a:endParaRPr>
          </a:p>
          <a:p>
            <a:pPr algn="l">
              <a:lnSpc>
                <a:spcPct val="114999"/>
              </a:lnSpc>
            </a:pPr>
            <a:r>
              <a:rPr sz="1400" b="1">
                <a:solidFill>
                  <a:srgbClr val="06D6A0"/>
                </a:solidFill>
                <a:latin typeface="Calibri"/>
              </a:rPr>
              <a:t>→ y=1 assigned to TARGET (17%)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34840"/>
            <a:ext cx="11430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1300" b="1">
                <a:solidFill>
                  <a:srgbClr val="FFA000"/>
                </a:solidFill>
                <a:latin typeface="Calibri"/>
              </a:rPr>
              <a:t>Why it was hard to catch:</a:t>
            </a:r>
          </a:p>
          <a:p>
            <a:pPr algn="l">
              <a:lnSpc>
                <a:spcPct val="114999"/>
              </a:lnSpc>
            </a:pPr>
            <a:r>
              <a:rPr sz="1300" b="0">
                <a:solidFill>
                  <a:srgbClr val="B0C4DE"/>
                </a:solidFill>
                <a:latin typeface="Calibri"/>
              </a:rPr>
              <a:t>  • WS accuracy looked high (~85%) because the model just predicted the majority class</a:t>
            </a:r>
          </a:p>
          <a:p>
            <a:pPr algn="l">
              <a:lnSpc>
                <a:spcPct val="114999"/>
              </a:lnSpc>
            </a:pPr>
            <a:r>
              <a:rPr sz="1300" b="0">
                <a:solidFill>
                  <a:srgbClr val="B0C4DE"/>
                </a:solidFill>
                <a:latin typeface="Calibri"/>
              </a:rPr>
              <a:t>  • AUC can flip:  AUC(wrong direction) = 1 − AUC(correct direction)</a:t>
            </a:r>
          </a:p>
          <a:p>
            <a:pPr algn="l">
              <a:lnSpc>
                <a:spcPct val="114999"/>
              </a:lnSpc>
            </a:pPr>
            <a:r>
              <a:rPr sz="1300" b="0">
                <a:solidFill>
                  <a:srgbClr val="B0C4DE"/>
                </a:solidFill>
                <a:latin typeface="Calibri"/>
              </a:rPr>
              <a:t>  • LOSO BAcc ≈ 0.51 near chance — the real signal was invisible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080"/>
                </a:solidFill>
                <a:latin typeface="Calibri"/>
              </a:rPr>
              <a:t>M.Tech Project  |  P300 EEG Classification  |  2025-26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v1: Baseline — Raw Binned ERP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  <a:latin typeface="Calibri"/>
              </a:rPr>
              <a:t>Simple, interpretable; establishes the within-subject vs cross-subject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1612880" cy="68580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645920" cy="530352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Filter
0.1–40 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75688" y="141732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313432" y="1261872"/>
            <a:ext cx="1645920" cy="530352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59152" y="129844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Epoch
−200→+800ms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40" y="141732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15384" y="1261872"/>
            <a:ext cx="1645920" cy="530352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61104" y="129844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Crop
200–500ms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9592" y="141732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17336" y="1261872"/>
            <a:ext cx="1645920" cy="530352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63056" y="129844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Bin avg
5 ms bins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81544" y="141732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9288" y="1261872"/>
            <a:ext cx="1645920" cy="530352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65008" y="129844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Flatten
120-dim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83496" y="141732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21240" y="1261872"/>
            <a:ext cx="1645920" cy="530352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66960" y="129844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rLDA /
SVC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10312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Within-Subject  (5-Fold Stratified CV)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468880"/>
            <a:ext cx="2651760" cy="1188720"/>
          </a:xfrm>
          <a:prstGeom prst="rect">
            <a:avLst/>
          </a:prstGeom>
          <a:solidFill>
            <a:srgbClr val="0A29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25420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Balanced Accuracy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276148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6D6A0"/>
                </a:solidFill>
                <a:latin typeface="Calibri"/>
              </a:rPr>
              <a:t>0.612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63240" y="2468880"/>
            <a:ext cx="2651760" cy="1188720"/>
          </a:xfrm>
          <a:prstGeom prst="rect">
            <a:avLst/>
          </a:prstGeom>
          <a:solidFill>
            <a:srgbClr val="0A29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108960" y="25420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ROC-AUC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276148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6D6A0"/>
                </a:solidFill>
                <a:latin typeface="Calibri"/>
              </a:rPr>
              <a:t>0.762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0" y="2468880"/>
            <a:ext cx="2651760" cy="1188720"/>
          </a:xfrm>
          <a:prstGeom prst="rect">
            <a:avLst/>
          </a:prstGeom>
          <a:solidFill>
            <a:srgbClr val="0A29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897880" y="25420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P300 signal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276148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6D6A0"/>
                </a:solidFill>
                <a:latin typeface="Calibri"/>
              </a:rPr>
              <a:t>DETECTED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32186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Calibri"/>
              </a:rPr>
              <a:t>within-subject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38404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A000"/>
                </a:solidFill>
                <a:latin typeface="Calibri"/>
              </a:rPr>
              <a:t>Cross-Subject  (Leave-One-Subject-Out)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206240"/>
            <a:ext cx="2651760" cy="1188720"/>
          </a:xfrm>
          <a:prstGeom prst="rect">
            <a:avLst/>
          </a:prstGeom>
          <a:solidFill>
            <a:srgbClr val="0A29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0040" y="42793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Balanced Accuracy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44988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A000"/>
                </a:solidFill>
                <a:latin typeface="Calibri"/>
              </a:rPr>
              <a:t>0.519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495604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Calibri"/>
              </a:rPr>
              <a:t>≈ chance (0.500)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63240" y="4206240"/>
            <a:ext cx="2651760" cy="1188720"/>
          </a:xfrm>
          <a:prstGeom prst="rect">
            <a:avLst/>
          </a:prstGeom>
          <a:solidFill>
            <a:srgbClr val="0A29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108960" y="42793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ROC-AUC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0" y="44988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A000"/>
                </a:solidFill>
                <a:latin typeface="Calibri"/>
              </a:rPr>
              <a:t>0.636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52160" y="4206240"/>
            <a:ext cx="2651760" cy="1188720"/>
          </a:xfrm>
          <a:prstGeom prst="rect">
            <a:avLst/>
          </a:prstGeom>
          <a:solidFill>
            <a:srgbClr val="0A29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897880" y="42793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Cross-subject gap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97880" y="44988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F476F"/>
                </a:solidFill>
                <a:latin typeface="Calibri"/>
              </a:rPr>
              <a:t>LARGE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97880" y="495604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Calibri"/>
              </a:rPr>
              <a:t>BAcc drops 9.3pp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32520" y="2377440"/>
            <a:ext cx="3108960" cy="3931920"/>
          </a:xfrm>
          <a:prstGeom prst="rect">
            <a:avLst/>
          </a:prstGeom>
          <a:solidFill>
            <a:srgbClr val="081828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823960" y="2468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Calibri"/>
              </a:rPr>
              <a:t>Why LOSO fails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23960" y="283464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1200" b="0">
                <a:solidFill>
                  <a:srgbClr val="B0C4DE"/>
                </a:solidFill>
                <a:latin typeface="Calibri"/>
              </a:rPr>
              <a:t>• ERP latency varies ±50 ms across subjects</a:t>
            </a:r>
          </a:p>
          <a:p>
            <a:pPr algn="l">
              <a:lnSpc>
                <a:spcPct val="114999"/>
              </a:lnSpc>
            </a:pPr>
            <a:r>
              <a:rPr sz="1200" b="0">
                <a:solidFill>
                  <a:srgbClr val="B0C4DE"/>
                </a:solidFill>
                <a:latin typeface="Calibri"/>
              </a:rPr>
              <a:t>• Amplitude scale differs 3–5×</a:t>
            </a:r>
          </a:p>
          <a:p>
            <a:pPr algn="l">
              <a:lnSpc>
                <a:spcPct val="114999"/>
              </a:lnSpc>
            </a:pPr>
            <a:r>
              <a:rPr sz="1200" b="0">
                <a:solidFill>
                  <a:srgbClr val="B0C4DE"/>
                </a:solidFill>
                <a:latin typeface="Calibri"/>
              </a:rPr>
              <a:t>• P300 topography shifts with head shape</a:t>
            </a:r>
          </a:p>
          <a:p>
            <a:pPr algn="l">
              <a:lnSpc>
                <a:spcPct val="114999"/>
              </a:lnSpc>
            </a:pPr>
            <a:r>
              <a:rPr sz="1200" b="0">
                <a:solidFill>
                  <a:srgbClr val="B0C4DE"/>
                </a:solidFill>
                <a:latin typeface="Calibri"/>
              </a:rPr>
              <a:t>• Threshold (0.5) from training subject</a:t>
            </a:r>
          </a:p>
          <a:p>
            <a:pPr algn="l">
              <a:lnSpc>
                <a:spcPct val="114999"/>
              </a:lnSpc>
            </a:pPr>
            <a:r>
              <a:rPr sz="1200" b="0">
                <a:solidFill>
                  <a:srgbClr val="B0C4DE"/>
                </a:solidFill>
                <a:latin typeface="Calibri"/>
              </a:rPr>
              <a:t>  does not transfer to test subject</a:t>
            </a:r>
          </a:p>
          <a:p>
            <a:pPr algn="l">
              <a:lnSpc>
                <a:spcPct val="114999"/>
              </a:lnSpc>
            </a:pPr>
            <a:endParaRPr sz="1200" b="0">
              <a:solidFill>
                <a:srgbClr val="B0C4DE"/>
              </a:solidFill>
              <a:latin typeface="Calibri"/>
            </a:endParaRPr>
          </a:p>
          <a:p>
            <a:pPr algn="l">
              <a:lnSpc>
                <a:spcPct val="114999"/>
              </a:lnSpc>
            </a:pPr>
            <a:r>
              <a:rPr sz="1200" b="1">
                <a:solidFill>
                  <a:srgbClr val="00B4D8"/>
                </a:solidFill>
                <a:latin typeface="Calibri"/>
              </a:rPr>
              <a:t>→ Need geometry-aware features</a:t>
            </a:r>
          </a:p>
          <a:p>
            <a:pPr algn="l">
              <a:lnSpc>
                <a:spcPct val="114999"/>
              </a:lnSpc>
            </a:pPr>
            <a:r>
              <a:rPr sz="1200" b="1">
                <a:solidFill>
                  <a:srgbClr val="00B4D8"/>
                </a:solidFill>
                <a:latin typeface="Calibri"/>
              </a:rPr>
              <a:t>→ Need calibrated threshold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080"/>
                </a:solidFill>
                <a:latin typeface="Calibri"/>
              </a:rPr>
              <a:t>M.Tech Project  |  P300 EEG Classification  |  2025-26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v3: xDAWN Spatial Filter Sweep  (k = 0, 2, 4, 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  <a:latin typeface="Calibri"/>
              </a:rPr>
              <a:t>Does a subject-trained spatial filter improve cross-subject generalisation?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1005840" cy="475488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30759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  <a:latin typeface="Calibri"/>
              </a:rPr>
              <a:t>k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234440"/>
            <a:ext cx="1371600" cy="475488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17320" y="130759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  <a:latin typeface="Calibri"/>
              </a:rPr>
              <a:t>Feat dim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234440"/>
            <a:ext cx="1645920" cy="475488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80360" y="130759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  <a:latin typeface="Calibri"/>
              </a:rPr>
              <a:t>WS BAcc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234440"/>
            <a:ext cx="1645920" cy="475488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30759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  <a:latin typeface="Calibri"/>
              </a:rPr>
              <a:t>WS AUC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34440"/>
            <a:ext cx="2011680" cy="475488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30759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  <a:latin typeface="Calibri"/>
              </a:rPr>
              <a:t>LOSO BAcc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1234440"/>
            <a:ext cx="1828800" cy="475488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49640" y="130759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  <a:latin typeface="Calibri"/>
              </a:rPr>
              <a:t>LOSO AUC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709928"/>
            <a:ext cx="1005840" cy="475488"/>
          </a:xfrm>
          <a:prstGeom prst="rect">
            <a:avLst/>
          </a:prstGeom>
          <a:solidFill>
            <a:srgbClr val="0F3F6B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" y="1801368"/>
            <a:ext cx="914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1709928"/>
            <a:ext cx="1371600" cy="475488"/>
          </a:xfrm>
          <a:prstGeom prst="rect">
            <a:avLst/>
          </a:prstGeom>
          <a:solidFill>
            <a:srgbClr val="0F3F6B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17320" y="1801368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120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1709928"/>
            <a:ext cx="1645920" cy="475488"/>
          </a:xfrm>
          <a:prstGeom prst="rect">
            <a:avLst/>
          </a:prstGeom>
          <a:solidFill>
            <a:srgbClr val="0F3F6B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80360" y="1801368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6D6A0"/>
                </a:solidFill>
                <a:latin typeface="Calibri"/>
              </a:rPr>
              <a:t>0.591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1709928"/>
            <a:ext cx="1645920" cy="475488"/>
          </a:xfrm>
          <a:prstGeom prst="rect">
            <a:avLst/>
          </a:prstGeom>
          <a:solidFill>
            <a:srgbClr val="0F3F6B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17720" y="1801368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6D6A0"/>
                </a:solidFill>
                <a:latin typeface="Calibri"/>
              </a:rPr>
              <a:t>0.742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709928"/>
            <a:ext cx="2011680" cy="475488"/>
          </a:xfrm>
          <a:prstGeom prst="rect">
            <a:avLst/>
          </a:prstGeom>
          <a:solidFill>
            <a:srgbClr val="0F3F6B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1801368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A000"/>
                </a:solidFill>
                <a:latin typeface="Calibri"/>
              </a:rPr>
              <a:t>0.509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1709928"/>
            <a:ext cx="1828800" cy="475488"/>
          </a:xfrm>
          <a:prstGeom prst="rect">
            <a:avLst/>
          </a:prstGeom>
          <a:solidFill>
            <a:srgbClr val="0F3F6B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49640" y="1801368"/>
            <a:ext cx="1737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A000"/>
                </a:solidFill>
                <a:latin typeface="Calibri"/>
              </a:rPr>
              <a:t>0.607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185416"/>
            <a:ext cx="1005840" cy="475488"/>
          </a:xfrm>
          <a:prstGeom prst="rect">
            <a:avLst/>
          </a:prstGeom>
          <a:solidFill>
            <a:srgbClr val="122840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0040" y="2276856"/>
            <a:ext cx="914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71600" y="2185416"/>
            <a:ext cx="1371600" cy="475488"/>
          </a:xfrm>
          <a:prstGeom prst="rect">
            <a:avLst/>
          </a:prstGeom>
          <a:solidFill>
            <a:srgbClr val="122840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417320" y="2276856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 30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34640" y="2185416"/>
            <a:ext cx="1645920" cy="475488"/>
          </a:xfrm>
          <a:prstGeom prst="rect">
            <a:avLst/>
          </a:prstGeom>
          <a:solidFill>
            <a:srgbClr val="122840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880360" y="2276856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6D6A0"/>
                </a:solidFill>
                <a:latin typeface="Calibri"/>
              </a:rPr>
              <a:t>0.558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2185416"/>
            <a:ext cx="1645920" cy="475488"/>
          </a:xfrm>
          <a:prstGeom prst="rect">
            <a:avLst/>
          </a:prstGeom>
          <a:solidFill>
            <a:srgbClr val="122840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17720" y="2276856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6D6A0"/>
                </a:solidFill>
                <a:latin typeface="Calibri"/>
              </a:rPr>
              <a:t>0.719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2185416"/>
            <a:ext cx="2011680" cy="475488"/>
          </a:xfrm>
          <a:prstGeom prst="rect">
            <a:avLst/>
          </a:prstGeom>
          <a:solidFill>
            <a:srgbClr val="122840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55080" y="227685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A000"/>
                </a:solidFill>
                <a:latin typeface="Calibri"/>
              </a:rPr>
              <a:t>0.505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2185416"/>
            <a:ext cx="1828800" cy="475488"/>
          </a:xfrm>
          <a:prstGeom prst="rect">
            <a:avLst/>
          </a:prstGeom>
          <a:solidFill>
            <a:srgbClr val="122840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49640" y="2276856"/>
            <a:ext cx="1737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A000"/>
                </a:solidFill>
                <a:latin typeface="Calibri"/>
              </a:rPr>
              <a:t>0.606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2660904"/>
            <a:ext cx="1005840" cy="475488"/>
          </a:xfrm>
          <a:prstGeom prst="rect">
            <a:avLst/>
          </a:prstGeom>
          <a:solidFill>
            <a:srgbClr val="0F3F6B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0040" y="2752344"/>
            <a:ext cx="914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71600" y="2660904"/>
            <a:ext cx="1371600" cy="475488"/>
          </a:xfrm>
          <a:prstGeom prst="rect">
            <a:avLst/>
          </a:prstGeom>
          <a:solidFill>
            <a:srgbClr val="0F3F6B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417320" y="2752344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 60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34640" y="2660904"/>
            <a:ext cx="1645920" cy="475488"/>
          </a:xfrm>
          <a:prstGeom prst="rect">
            <a:avLst/>
          </a:prstGeom>
          <a:solidFill>
            <a:srgbClr val="0F3F6B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880360" y="2752344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6D6A0"/>
                </a:solidFill>
                <a:latin typeface="Calibri"/>
              </a:rPr>
              <a:t>0.581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0" y="2660904"/>
            <a:ext cx="1645920" cy="475488"/>
          </a:xfrm>
          <a:prstGeom prst="rect">
            <a:avLst/>
          </a:prstGeom>
          <a:solidFill>
            <a:srgbClr val="0F3F6B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617720" y="2752344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6D6A0"/>
                </a:solidFill>
                <a:latin typeface="Calibri"/>
              </a:rPr>
              <a:t>0.732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2660904"/>
            <a:ext cx="2011680" cy="475488"/>
          </a:xfrm>
          <a:prstGeom prst="rect">
            <a:avLst/>
          </a:prstGeom>
          <a:solidFill>
            <a:srgbClr val="0F3F6B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355080" y="2752344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A000"/>
                </a:solidFill>
                <a:latin typeface="Calibri"/>
              </a:rPr>
              <a:t>0.507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03920" y="2660904"/>
            <a:ext cx="1828800" cy="475488"/>
          </a:xfrm>
          <a:prstGeom prst="rect">
            <a:avLst/>
          </a:prstGeom>
          <a:solidFill>
            <a:srgbClr val="0F3F6B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549640" y="2752344"/>
            <a:ext cx="1737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A000"/>
                </a:solidFill>
                <a:latin typeface="Calibri"/>
              </a:rPr>
              <a:t>0.608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3136392"/>
            <a:ext cx="1005840" cy="475488"/>
          </a:xfrm>
          <a:prstGeom prst="rect">
            <a:avLst/>
          </a:prstGeom>
          <a:solidFill>
            <a:srgbClr val="122840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20040" y="3227832"/>
            <a:ext cx="914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71600" y="3136392"/>
            <a:ext cx="1371600" cy="475488"/>
          </a:xfrm>
          <a:prstGeom prst="rect">
            <a:avLst/>
          </a:prstGeom>
          <a:solidFill>
            <a:srgbClr val="122840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417320" y="3227832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 90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834640" y="3136392"/>
            <a:ext cx="1645920" cy="475488"/>
          </a:xfrm>
          <a:prstGeom prst="rect">
            <a:avLst/>
          </a:prstGeom>
          <a:solidFill>
            <a:srgbClr val="122840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880360" y="3227832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6D6A0"/>
                </a:solidFill>
                <a:latin typeface="Calibri"/>
              </a:rPr>
              <a:t>0.589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0" y="3136392"/>
            <a:ext cx="1645920" cy="475488"/>
          </a:xfrm>
          <a:prstGeom prst="rect">
            <a:avLst/>
          </a:prstGeom>
          <a:solidFill>
            <a:srgbClr val="122840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617720" y="3227832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6D6A0"/>
                </a:solidFill>
                <a:latin typeface="Calibri"/>
              </a:rPr>
              <a:t>0.740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3136392"/>
            <a:ext cx="2011680" cy="475488"/>
          </a:xfrm>
          <a:prstGeom prst="rect">
            <a:avLst/>
          </a:prstGeom>
          <a:solidFill>
            <a:srgbClr val="122840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355080" y="3227832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A000"/>
                </a:solidFill>
                <a:latin typeface="Calibri"/>
              </a:rPr>
              <a:t>0.509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503920" y="3136392"/>
            <a:ext cx="1828800" cy="475488"/>
          </a:xfrm>
          <a:prstGeom prst="rect">
            <a:avLst/>
          </a:prstGeom>
          <a:solidFill>
            <a:srgbClr val="122840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549640" y="3227832"/>
            <a:ext cx="1737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A000"/>
                </a:solidFill>
                <a:latin typeface="Calibri"/>
              </a:rPr>
              <a:t>0.605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4114800"/>
            <a:ext cx="11612880" cy="1188720"/>
          </a:xfrm>
          <a:prstGeom prst="rect">
            <a:avLst/>
          </a:prstGeom>
          <a:solidFill>
            <a:srgbClr val="181005"/>
          </a:solidFill>
          <a:ln w="1905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57200" y="418795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A000"/>
                </a:solidFill>
                <a:latin typeface="Calibri"/>
              </a:rPr>
              <a:t>Finding:  xDAWN does NOT improve LOSO regardless of k  —  all LOSO AUC ≈ 0.606±0.001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455371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1300" b="0">
                <a:solidFill>
                  <a:srgbClr val="B0C4DE"/>
                </a:solidFill>
                <a:latin typeface="Calibri"/>
              </a:rPr>
              <a:t>Reason:  With only 8 EEG channels, the spatial filter learned on 7 training subjects does not capture the test subject's unique P300 topography.  The information bottleneck is topology, not feature dimension.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60" y="539496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→ Next step: model the geometry of the covariance space (Riemannian pipeline)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080"/>
                </a:solidFill>
                <a:latin typeface="Calibri"/>
              </a:rPr>
              <a:t>M.Tech Project  |  P300 EEG Classification  |  2025-26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v4: Riemannian Covariance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  <a:latin typeface="Calibri"/>
              </a:rPr>
              <a:t>XdawnCovariances → Euclidean Alignment → Tangent Space → rLDA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2606040" cy="1920240"/>
          </a:xfrm>
          <a:prstGeom prst="rect">
            <a:avLst/>
          </a:prstGeom>
          <a:solidFill>
            <a:srgbClr val="0F3F6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79" y="126187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  <a:latin typeface="Calibri"/>
              </a:rPr>
              <a:t>XdawnCov
(nfilter=4)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1719072"/>
            <a:ext cx="960120" cy="36576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1792224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Augmented
(2nf+1)×(2nf+1)
SPD matrices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4368" y="1783080"/>
            <a:ext cx="338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4408" y="1188720"/>
            <a:ext cx="2606040" cy="1920240"/>
          </a:xfrm>
          <a:prstGeom prst="rect">
            <a:avLst/>
          </a:prstGeom>
          <a:solidFill>
            <a:srgbClr val="0F3F6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55848" y="126187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  <a:latin typeface="Calibri"/>
              </a:rPr>
              <a:t>Euclidean
Alignment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87368" y="1719072"/>
            <a:ext cx="960120" cy="36576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55848" y="1792224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Whiten by
train mean cov
R⁻¹/² C R⁻¹/²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88736" y="1783080"/>
            <a:ext cx="338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8776" y="1188720"/>
            <a:ext cx="2606040" cy="1920240"/>
          </a:xfrm>
          <a:prstGeom prst="rect">
            <a:avLst/>
          </a:prstGeom>
          <a:solidFill>
            <a:srgbClr val="0F3F6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0216" y="126187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  <a:latin typeface="Calibri"/>
              </a:rPr>
              <a:t>Tangent
Space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31736" y="1719072"/>
            <a:ext cx="960120" cy="36576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0216" y="1792224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Map SPD →
Euclidean
45-dim vector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33104" y="1783080"/>
            <a:ext cx="338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53144" y="1188720"/>
            <a:ext cx="2606040" cy="1920240"/>
          </a:xfrm>
          <a:prstGeom prst="rect">
            <a:avLst/>
          </a:prstGeom>
          <a:solidFill>
            <a:srgbClr val="0F3F6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44584" y="126187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  <a:latin typeface="Calibri"/>
              </a:rPr>
              <a:t>rLDA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76104" y="1719072"/>
            <a:ext cx="960120" cy="36576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44584" y="1792224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Regularised
Linear
Discriminant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3246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nfilter Sweep Results  (rLDA)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611880"/>
            <a:ext cx="822960" cy="411480"/>
          </a:xfrm>
          <a:prstGeom prst="rect">
            <a:avLst/>
          </a:prstGeom>
          <a:solidFill>
            <a:srgbClr val="0F3F6B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7472" y="3657600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  <a:latin typeface="Calibri"/>
              </a:rPr>
              <a:t>nf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34440" y="3611880"/>
            <a:ext cx="960120" cy="411480"/>
          </a:xfrm>
          <a:prstGeom prst="rect">
            <a:avLst/>
          </a:prstGeom>
          <a:solidFill>
            <a:srgbClr val="0F3F6B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261872" y="3657600"/>
            <a:ext cx="905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  <a:latin typeface="Calibri"/>
              </a:rPr>
              <a:t>TS dim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0" y="3611880"/>
            <a:ext cx="1280160" cy="411480"/>
          </a:xfrm>
          <a:prstGeom prst="rect">
            <a:avLst/>
          </a:prstGeom>
          <a:solidFill>
            <a:srgbClr val="0F3F6B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313432" y="3657600"/>
            <a:ext cx="1225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  <a:latin typeface="Calibri"/>
              </a:rPr>
              <a:t>WS BAcc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3611880"/>
            <a:ext cx="1280160" cy="411480"/>
          </a:xfrm>
          <a:prstGeom prst="rect">
            <a:avLst/>
          </a:prstGeom>
          <a:solidFill>
            <a:srgbClr val="0F3F6B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85032" y="3657600"/>
            <a:ext cx="1225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  <a:latin typeface="Calibri"/>
              </a:rPr>
              <a:t>WS AUC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3611880"/>
            <a:ext cx="1417320" cy="411480"/>
          </a:xfrm>
          <a:prstGeom prst="rect">
            <a:avLst/>
          </a:prstGeom>
          <a:solidFill>
            <a:srgbClr val="0F3F6B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56632" y="3657600"/>
            <a:ext cx="1362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  <a:latin typeface="Calibri"/>
              </a:rPr>
              <a:t>LOSO BAcc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37960" y="3611880"/>
            <a:ext cx="1463040" cy="411480"/>
          </a:xfrm>
          <a:prstGeom prst="rect">
            <a:avLst/>
          </a:prstGeom>
          <a:solidFill>
            <a:srgbClr val="0F3F6B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65392" y="3657600"/>
            <a:ext cx="1408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  <a:latin typeface="Calibri"/>
              </a:rPr>
              <a:t>LOSO AUC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92440" y="3611880"/>
            <a:ext cx="1463040" cy="411480"/>
          </a:xfrm>
          <a:prstGeom prst="rect">
            <a:avLst/>
          </a:prstGeom>
          <a:solidFill>
            <a:srgbClr val="0F3F6B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119871" y="3657600"/>
            <a:ext cx="1408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  <a:latin typeface="Calibri"/>
              </a:rPr>
              <a:t>LOSO PR-AUC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023360"/>
            <a:ext cx="822960" cy="402336"/>
          </a:xfrm>
          <a:prstGeom prst="rect">
            <a:avLst/>
          </a:prstGeom>
          <a:solidFill>
            <a:srgbClr val="0F3F6B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7472" y="4087368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34440" y="4023360"/>
            <a:ext cx="960120" cy="402336"/>
          </a:xfrm>
          <a:prstGeom prst="rect">
            <a:avLst/>
          </a:prstGeom>
          <a:solidFill>
            <a:srgbClr val="0F3F6B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261872" y="4087368"/>
            <a:ext cx="905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 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0" y="4023360"/>
            <a:ext cx="1280160" cy="402336"/>
          </a:xfrm>
          <a:prstGeom prst="rect">
            <a:avLst/>
          </a:prstGeom>
          <a:solidFill>
            <a:srgbClr val="0F3F6B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313432" y="4087368"/>
            <a:ext cx="1225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  <a:latin typeface="Calibri"/>
              </a:rPr>
              <a:t>0.506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0" y="4023360"/>
            <a:ext cx="1280160" cy="402336"/>
          </a:xfrm>
          <a:prstGeom prst="rect">
            <a:avLst/>
          </a:prstGeom>
          <a:solidFill>
            <a:srgbClr val="0F3F6B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85032" y="4087368"/>
            <a:ext cx="1225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  <a:latin typeface="Calibri"/>
              </a:rPr>
              <a:t>0.582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0" y="4023360"/>
            <a:ext cx="1417320" cy="402336"/>
          </a:xfrm>
          <a:prstGeom prst="rect">
            <a:avLst/>
          </a:prstGeom>
          <a:solidFill>
            <a:srgbClr val="0F3F6B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056632" y="4087368"/>
            <a:ext cx="13624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  <a:latin typeface="Calibri"/>
              </a:rPr>
              <a:t>0.500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37960" y="4023360"/>
            <a:ext cx="1463040" cy="402336"/>
          </a:xfrm>
          <a:prstGeom prst="rect">
            <a:avLst/>
          </a:prstGeom>
          <a:solidFill>
            <a:srgbClr val="0F3F6B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65392" y="4087368"/>
            <a:ext cx="1408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  <a:latin typeface="Calibri"/>
              </a:rPr>
              <a:t>0.552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92440" y="4023360"/>
            <a:ext cx="1463040" cy="402336"/>
          </a:xfrm>
          <a:prstGeom prst="rect">
            <a:avLst/>
          </a:prstGeom>
          <a:solidFill>
            <a:srgbClr val="0F3F6B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19871" y="4087368"/>
            <a:ext cx="1408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  <a:latin typeface="Calibri"/>
              </a:rPr>
              <a:t>0.203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4434840"/>
            <a:ext cx="822960" cy="402336"/>
          </a:xfrm>
          <a:prstGeom prst="rect">
            <a:avLst/>
          </a:prstGeom>
          <a:solidFill>
            <a:srgbClr val="122840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47472" y="4498848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34440" y="4434840"/>
            <a:ext cx="960120" cy="402336"/>
          </a:xfrm>
          <a:prstGeom prst="rect">
            <a:avLst/>
          </a:prstGeom>
          <a:solidFill>
            <a:srgbClr val="122840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261872" y="4498848"/>
            <a:ext cx="905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0" y="4434840"/>
            <a:ext cx="1280160" cy="402336"/>
          </a:xfrm>
          <a:prstGeom prst="rect">
            <a:avLst/>
          </a:prstGeom>
          <a:solidFill>
            <a:srgbClr val="122840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313432" y="4498848"/>
            <a:ext cx="1225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  <a:latin typeface="Calibri"/>
              </a:rPr>
              <a:t>0.550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0" y="4434840"/>
            <a:ext cx="1280160" cy="402336"/>
          </a:xfrm>
          <a:prstGeom prst="rect">
            <a:avLst/>
          </a:prstGeom>
          <a:solidFill>
            <a:srgbClr val="122840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685032" y="4498848"/>
            <a:ext cx="1225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  <a:latin typeface="Calibri"/>
              </a:rPr>
              <a:t>0.673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0" y="4434840"/>
            <a:ext cx="1417320" cy="402336"/>
          </a:xfrm>
          <a:prstGeom prst="rect">
            <a:avLst/>
          </a:prstGeom>
          <a:solidFill>
            <a:srgbClr val="122840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56632" y="4498848"/>
            <a:ext cx="13624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  <a:latin typeface="Calibri"/>
              </a:rPr>
              <a:t>0.504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37960" y="4434840"/>
            <a:ext cx="1463040" cy="402336"/>
          </a:xfrm>
          <a:prstGeom prst="rect">
            <a:avLst/>
          </a:prstGeom>
          <a:solidFill>
            <a:srgbClr val="122840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565392" y="4498848"/>
            <a:ext cx="1408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  <a:latin typeface="Calibri"/>
              </a:rPr>
              <a:t>0.602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092440" y="4434840"/>
            <a:ext cx="1463040" cy="402336"/>
          </a:xfrm>
          <a:prstGeom prst="rect">
            <a:avLst/>
          </a:prstGeom>
          <a:solidFill>
            <a:srgbClr val="122840"/>
          </a:solidFill>
          <a:ln w="635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119871" y="4498848"/>
            <a:ext cx="1408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  <a:latin typeface="Calibri"/>
              </a:rPr>
              <a:t>0.243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4846320"/>
            <a:ext cx="822960" cy="402336"/>
          </a:xfrm>
          <a:prstGeom prst="rect">
            <a:avLst/>
          </a:prstGeom>
          <a:solidFill>
            <a:srgbClr val="053018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47472" y="4910328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6D6A0"/>
                </a:solidFill>
                <a:latin typeface="Calibri"/>
              </a:rPr>
              <a:t>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234440" y="4846320"/>
            <a:ext cx="960120" cy="402336"/>
          </a:xfrm>
          <a:prstGeom prst="rect">
            <a:avLst/>
          </a:prstGeom>
          <a:solidFill>
            <a:srgbClr val="053018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261872" y="4910328"/>
            <a:ext cx="905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6D6A0"/>
                </a:solidFill>
                <a:latin typeface="Calibri"/>
              </a:rPr>
              <a:t>45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286000" y="4846320"/>
            <a:ext cx="1280160" cy="402336"/>
          </a:xfrm>
          <a:prstGeom prst="rect">
            <a:avLst/>
          </a:prstGeom>
          <a:solidFill>
            <a:srgbClr val="053018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313432" y="4910328"/>
            <a:ext cx="1225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6D6A0"/>
                </a:solidFill>
                <a:latin typeface="Calibri"/>
              </a:rPr>
              <a:t>0.600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0" y="4846320"/>
            <a:ext cx="1280160" cy="402336"/>
          </a:xfrm>
          <a:prstGeom prst="rect">
            <a:avLst/>
          </a:prstGeom>
          <a:solidFill>
            <a:srgbClr val="053018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685032" y="4910328"/>
            <a:ext cx="1225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6D6A0"/>
                </a:solidFill>
                <a:latin typeface="Calibri"/>
              </a:rPr>
              <a:t>0.746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29200" y="4846320"/>
            <a:ext cx="1417320" cy="402336"/>
          </a:xfrm>
          <a:prstGeom prst="rect">
            <a:avLst/>
          </a:prstGeom>
          <a:solidFill>
            <a:srgbClr val="053018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056632" y="4910328"/>
            <a:ext cx="13624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6D6A0"/>
                </a:solidFill>
                <a:latin typeface="Calibri"/>
              </a:rPr>
              <a:t>0.517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37960" y="4846320"/>
            <a:ext cx="1463040" cy="402336"/>
          </a:xfrm>
          <a:prstGeom prst="rect">
            <a:avLst/>
          </a:prstGeom>
          <a:solidFill>
            <a:srgbClr val="053018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565392" y="4910328"/>
            <a:ext cx="1408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6D6A0"/>
                </a:solidFill>
                <a:latin typeface="Calibri"/>
              </a:rPr>
              <a:t>0.648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092440" y="4846320"/>
            <a:ext cx="1463040" cy="402336"/>
          </a:xfrm>
          <a:prstGeom prst="rect">
            <a:avLst/>
          </a:prstGeom>
          <a:solidFill>
            <a:srgbClr val="053018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119871" y="4910328"/>
            <a:ext cx="1408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6D6A0"/>
                </a:solidFill>
                <a:latin typeface="Calibri"/>
              </a:rPr>
              <a:t>0.296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20040" y="5349240"/>
            <a:ext cx="11521440" cy="914400"/>
          </a:xfrm>
          <a:prstGeom prst="rect">
            <a:avLst/>
          </a:prstGeom>
          <a:solidFill>
            <a:srgbClr val="052510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02920" y="542239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D6A0"/>
                </a:solidFill>
                <a:latin typeface="Calibri"/>
              </a:rPr>
              <a:t>nf=4 best:  LOSO AUC 0.636 → 0.648  (+1.2pp)   PR-AUC = 0.296 = 1.78× above random (0.167)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577900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Calibri"/>
              </a:rPr>
              <a:t>Riemannian geometry improves ranking — but LOSO BAcc still 0.517 because threshold does not transfer.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080"/>
                </a:solidFill>
                <a:latin typeface="Calibri"/>
              </a:rPr>
              <a:t>M.Tech Project  |  P300 EEG Classification  |  2025-26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Threshold Calibration: Youden's 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  <a:latin typeface="Calibri"/>
              </a:rPr>
              <a:t>The AUC is good — the default threshold just doesn't transfer across subjects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120640" cy="3200400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61872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Why Default Threshold Fails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60020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1300" b="0">
                <a:solidFill>
                  <a:srgbClr val="B0C4DE"/>
                </a:solidFill>
                <a:latin typeface="Calibri"/>
              </a:rPr>
              <a:t>Default threshold = 0.5 works when train and</a:t>
            </a:r>
          </a:p>
          <a:p>
            <a:pPr algn="l">
              <a:lnSpc>
                <a:spcPct val="114999"/>
              </a:lnSpc>
            </a:pPr>
            <a:r>
              <a:rPr sz="1300" b="0">
                <a:solidFill>
                  <a:srgbClr val="B0C4DE"/>
                </a:solidFill>
                <a:latin typeface="Calibri"/>
              </a:rPr>
              <a:t>test score distributions are aligned.</a:t>
            </a:r>
          </a:p>
          <a:p>
            <a:pPr algn="l">
              <a:lnSpc>
                <a:spcPct val="114999"/>
              </a:lnSpc>
            </a:pPr>
            <a:endParaRPr sz="1300" b="0">
              <a:solidFill>
                <a:srgbClr val="B0C4DE"/>
              </a:solidFill>
              <a:latin typeface="Calibri"/>
            </a:endParaRPr>
          </a:p>
          <a:p>
            <a:pPr algn="l">
              <a:lnSpc>
                <a:spcPct val="114999"/>
              </a:lnSpc>
            </a:pPr>
            <a:r>
              <a:rPr sz="1300" b="1">
                <a:solidFill>
                  <a:srgbClr val="00B4D8"/>
                </a:solidFill>
                <a:latin typeface="Calibri"/>
              </a:rPr>
              <a:t>In LOSO:</a:t>
            </a:r>
          </a:p>
          <a:p>
            <a:pPr algn="l">
              <a:lnSpc>
                <a:spcPct val="114999"/>
              </a:lnSpc>
            </a:pPr>
            <a:r>
              <a:rPr sz="1300" b="0">
                <a:solidFill>
                  <a:srgbClr val="B0C4DE"/>
                </a:solidFill>
                <a:latin typeface="Calibri"/>
              </a:rPr>
              <a:t>• Training subjects define one score scale</a:t>
            </a:r>
          </a:p>
          <a:p>
            <a:pPr algn="l">
              <a:lnSpc>
                <a:spcPct val="114999"/>
              </a:lnSpc>
            </a:pPr>
            <a:r>
              <a:rPr sz="1300" b="0">
                <a:solidFill>
                  <a:srgbClr val="B0C4DE"/>
                </a:solidFill>
                <a:latin typeface="Calibri"/>
              </a:rPr>
              <a:t>• Test subject has a different scale</a:t>
            </a:r>
          </a:p>
          <a:p>
            <a:pPr algn="l">
              <a:lnSpc>
                <a:spcPct val="114999"/>
              </a:lnSpc>
            </a:pPr>
            <a:r>
              <a:rPr sz="1300" b="0">
                <a:solidFill>
                  <a:srgbClr val="B0C4DE"/>
                </a:solidFill>
                <a:latin typeface="Calibri"/>
              </a:rPr>
              <a:t>• Threshold 0.5 is no longer the optimal cut</a:t>
            </a:r>
          </a:p>
          <a:p>
            <a:pPr algn="l">
              <a:lnSpc>
                <a:spcPct val="114999"/>
              </a:lnSpc>
            </a:pPr>
            <a:r>
              <a:rPr sz="1300" b="0">
                <a:solidFill>
                  <a:srgbClr val="B0C4DE"/>
                </a:solidFill>
                <a:latin typeface="Calibri"/>
              </a:rPr>
              <a:t>• BAcc collapses to ~0.50 even when AUC &gt; 0.60</a:t>
            </a:r>
          </a:p>
          <a:p>
            <a:pPr algn="l">
              <a:lnSpc>
                <a:spcPct val="114999"/>
              </a:lnSpc>
            </a:pPr>
            <a:endParaRPr sz="1300" b="0">
              <a:solidFill>
                <a:srgbClr val="B0C4DE"/>
              </a:solidFill>
              <a:latin typeface="Calibri"/>
            </a:endParaRPr>
          </a:p>
          <a:p>
            <a:pPr algn="l">
              <a:lnSpc>
                <a:spcPct val="114999"/>
              </a:lnSpc>
            </a:pPr>
            <a:r>
              <a:rPr sz="1300" b="1">
                <a:solidFill>
                  <a:srgbClr val="06D6A0"/>
                </a:solidFill>
                <a:latin typeface="Calibri"/>
              </a:rPr>
              <a:t>Solution:  Youden's J</a:t>
            </a:r>
          </a:p>
          <a:p>
            <a:pPr algn="l">
              <a:lnSpc>
                <a:spcPct val="114999"/>
              </a:lnSpc>
            </a:pPr>
            <a:r>
              <a:rPr sz="1300" b="0">
                <a:solidFill>
                  <a:srgbClr val="B0C4DE"/>
                </a:solidFill>
                <a:latin typeface="Calibri"/>
              </a:rPr>
              <a:t>  thresh* = argmax(TPR − FPR) on ROC curve</a:t>
            </a:r>
          </a:p>
          <a:p>
            <a:pPr algn="l">
              <a:lnSpc>
                <a:spcPct val="114999"/>
              </a:lnSpc>
            </a:pPr>
            <a:r>
              <a:rPr sz="1300" b="0">
                <a:solidFill>
                  <a:srgbClr val="B0C4DE"/>
                </a:solidFill>
                <a:latin typeface="Calibri"/>
              </a:rPr>
              <a:t>  Fitted on a 10% held-out val split of</a:t>
            </a:r>
          </a:p>
          <a:p>
            <a:pPr algn="l">
              <a:lnSpc>
                <a:spcPct val="114999"/>
              </a:lnSpc>
            </a:pPr>
            <a:r>
              <a:rPr sz="1300" b="0">
                <a:solidFill>
                  <a:srgbClr val="B0C4DE"/>
                </a:solidFill>
                <a:latin typeface="Calibri"/>
              </a:rPr>
              <a:t>  the training subjects per LOSO fold.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188720"/>
            <a:ext cx="6217920" cy="3200400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0" y="1261872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Calibration Procedure (per LOSO fold)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1600200"/>
            <a:ext cx="5852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1300" b="1">
                <a:solidFill>
                  <a:srgbClr val="00B4D8"/>
                </a:solidFill>
                <a:latin typeface="Calibri"/>
              </a:rPr>
              <a:t>1. Split training subjects:</a:t>
            </a:r>
          </a:p>
          <a:p>
            <a:pPr algn="l">
              <a:lnSpc>
                <a:spcPct val="114999"/>
              </a:lnSpc>
            </a:pPr>
            <a:r>
              <a:rPr sz="1300" b="0">
                <a:solidFill>
                  <a:srgbClr val="B0C4DE"/>
                </a:solidFill>
                <a:latin typeface="Calibri"/>
              </a:rPr>
              <a:t>   90% → fit Riemannian pipeline + rLDA</a:t>
            </a:r>
          </a:p>
          <a:p>
            <a:pPr algn="l">
              <a:lnSpc>
                <a:spcPct val="114999"/>
              </a:lnSpc>
            </a:pPr>
            <a:r>
              <a:rPr sz="1300" b="0">
                <a:solidFill>
                  <a:srgbClr val="B0C4DE"/>
                </a:solidFill>
                <a:latin typeface="Calibri"/>
              </a:rPr>
              <a:t>   10% → find Youden's J threshold</a:t>
            </a:r>
          </a:p>
          <a:p>
            <a:pPr algn="l">
              <a:lnSpc>
                <a:spcPct val="114999"/>
              </a:lnSpc>
            </a:pPr>
            <a:endParaRPr sz="1300" b="0">
              <a:solidFill>
                <a:srgbClr val="B0C4DE"/>
              </a:solidFill>
              <a:latin typeface="Calibri"/>
            </a:endParaRPr>
          </a:p>
          <a:p>
            <a:pPr algn="l">
              <a:lnSpc>
                <a:spcPct val="114999"/>
              </a:lnSpc>
            </a:pPr>
            <a:r>
              <a:rPr sz="1300" b="1">
                <a:solidFill>
                  <a:srgbClr val="00B4D8"/>
                </a:solidFill>
                <a:latin typeface="Calibri"/>
              </a:rPr>
              <a:t>2. Re-fit final model on 100% of training</a:t>
            </a:r>
          </a:p>
          <a:p>
            <a:pPr algn="l">
              <a:lnSpc>
                <a:spcPct val="114999"/>
              </a:lnSpc>
            </a:pPr>
            <a:r>
              <a:rPr sz="1300" b="0">
                <a:solidFill>
                  <a:srgbClr val="B0C4DE"/>
                </a:solidFill>
                <a:latin typeface="Calibri"/>
              </a:rPr>
              <a:t>   subjects  (no data wasted)</a:t>
            </a:r>
          </a:p>
          <a:p>
            <a:pPr algn="l">
              <a:lnSpc>
                <a:spcPct val="114999"/>
              </a:lnSpc>
            </a:pPr>
            <a:endParaRPr sz="1300" b="0">
              <a:solidFill>
                <a:srgbClr val="B0C4DE"/>
              </a:solidFill>
              <a:latin typeface="Calibri"/>
            </a:endParaRPr>
          </a:p>
          <a:p>
            <a:pPr algn="l">
              <a:lnSpc>
                <a:spcPct val="114999"/>
              </a:lnSpc>
            </a:pPr>
            <a:r>
              <a:rPr sz="1300" b="1">
                <a:solidFill>
                  <a:srgbClr val="00B4D8"/>
                </a:solidFill>
                <a:latin typeface="Calibri"/>
              </a:rPr>
              <a:t>3. Apply calibrated threshold to</a:t>
            </a:r>
          </a:p>
          <a:p>
            <a:pPr algn="l">
              <a:lnSpc>
                <a:spcPct val="114999"/>
              </a:lnSpc>
            </a:pPr>
            <a:r>
              <a:rPr sz="1300" b="0">
                <a:solidFill>
                  <a:srgbClr val="B0C4DE"/>
                </a:solidFill>
                <a:latin typeface="Calibri"/>
              </a:rPr>
              <a:t>   held-out test subject</a:t>
            </a:r>
          </a:p>
          <a:p>
            <a:pPr algn="l">
              <a:lnSpc>
                <a:spcPct val="114999"/>
              </a:lnSpc>
            </a:pPr>
            <a:endParaRPr sz="1300" b="0">
              <a:solidFill>
                <a:srgbClr val="B0C4DE"/>
              </a:solidFill>
              <a:latin typeface="Calibri"/>
            </a:endParaRPr>
          </a:p>
          <a:p>
            <a:pPr algn="l">
              <a:lnSpc>
                <a:spcPct val="114999"/>
              </a:lnSpc>
            </a:pPr>
            <a:r>
              <a:rPr sz="1300" b="1">
                <a:solidFill>
                  <a:srgbClr val="00B4D8"/>
                </a:solidFill>
                <a:latin typeface="Calibri"/>
              </a:rPr>
              <a:t>4. Report BAcc at calibrated threshold</a:t>
            </a:r>
          </a:p>
          <a:p>
            <a:pPr algn="l">
              <a:lnSpc>
                <a:spcPct val="114999"/>
              </a:lnSpc>
            </a:pPr>
            <a:r>
              <a:rPr sz="1300" b="0">
                <a:solidFill>
                  <a:srgbClr val="B0C4DE"/>
                </a:solidFill>
                <a:latin typeface="Calibri"/>
              </a:rPr>
              <a:t>   (AUC unchanged — still threshold-free)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5262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Per-Subject Calibrated LOSO Results  (nf=4, rLDA)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892040"/>
            <a:ext cx="777240" cy="347472"/>
          </a:xfrm>
          <a:prstGeom prst="rect">
            <a:avLst/>
          </a:prstGeom>
          <a:solidFill>
            <a:srgbClr val="0F3F6B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1751" y="4919472"/>
            <a:ext cx="722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  <a:latin typeface="Calibri"/>
              </a:rPr>
              <a:t>Subj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16151" y="4892040"/>
            <a:ext cx="822960" cy="347472"/>
          </a:xfrm>
          <a:prstGeom prst="rect">
            <a:avLst/>
          </a:prstGeom>
          <a:solidFill>
            <a:srgbClr val="0F3F6B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43584" y="4919472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  <a:latin typeface="Calibri"/>
              </a:rPr>
              <a:t>thresh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03703" y="4892040"/>
            <a:ext cx="749808" cy="347472"/>
          </a:xfrm>
          <a:prstGeom prst="rect">
            <a:avLst/>
          </a:prstGeom>
          <a:solidFill>
            <a:srgbClr val="0F3F6B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31135" y="4919472"/>
            <a:ext cx="694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  <a:latin typeface="Calibri"/>
              </a:rPr>
              <a:t>BAcc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18103" y="4892040"/>
            <a:ext cx="749808" cy="347472"/>
          </a:xfrm>
          <a:prstGeom prst="rect">
            <a:avLst/>
          </a:prstGeom>
          <a:solidFill>
            <a:srgbClr val="0F3F6B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45535" y="4919472"/>
            <a:ext cx="694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  <a:latin typeface="Calibri"/>
              </a:rPr>
              <a:t>AUC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239512"/>
            <a:ext cx="777240" cy="173736"/>
          </a:xfrm>
          <a:prstGeom prst="rect">
            <a:avLst/>
          </a:prstGeom>
          <a:solidFill>
            <a:srgbClr val="0F3F6B"/>
          </a:solidFill>
          <a:ln w="381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2608" y="5257800"/>
            <a:ext cx="74066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Calibri"/>
              </a:rPr>
              <a:t>S01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16151" y="5239512"/>
            <a:ext cx="822960" cy="173736"/>
          </a:xfrm>
          <a:prstGeom prst="rect">
            <a:avLst/>
          </a:prstGeom>
          <a:solidFill>
            <a:srgbClr val="0F3F6B"/>
          </a:solidFill>
          <a:ln w="381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34439" y="5257800"/>
            <a:ext cx="78638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Calibri"/>
              </a:rPr>
              <a:t>0.178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03703" y="5239512"/>
            <a:ext cx="749808" cy="173736"/>
          </a:xfrm>
          <a:prstGeom prst="rect">
            <a:avLst/>
          </a:prstGeom>
          <a:solidFill>
            <a:srgbClr val="0F3F6B"/>
          </a:solidFill>
          <a:ln w="381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221991" y="5257800"/>
            <a:ext cx="713231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B0C4DE"/>
                </a:solidFill>
                <a:latin typeface="Calibri"/>
              </a:rPr>
              <a:t>0.510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18103" y="5239512"/>
            <a:ext cx="749808" cy="173736"/>
          </a:xfrm>
          <a:prstGeom prst="rect">
            <a:avLst/>
          </a:prstGeom>
          <a:solidFill>
            <a:srgbClr val="0F3F6B"/>
          </a:solidFill>
          <a:ln w="381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36391" y="5257800"/>
            <a:ext cx="713231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Calibri"/>
              </a:rPr>
              <a:t>0.539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417820"/>
            <a:ext cx="777240" cy="173736"/>
          </a:xfrm>
          <a:prstGeom prst="rect">
            <a:avLst/>
          </a:prstGeom>
          <a:solidFill>
            <a:srgbClr val="122840"/>
          </a:solidFill>
          <a:ln w="381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2608" y="5436108"/>
            <a:ext cx="74066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Calibri"/>
              </a:rPr>
              <a:t>S02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16151" y="5417820"/>
            <a:ext cx="822960" cy="173736"/>
          </a:xfrm>
          <a:prstGeom prst="rect">
            <a:avLst/>
          </a:prstGeom>
          <a:solidFill>
            <a:srgbClr val="122840"/>
          </a:solidFill>
          <a:ln w="381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34439" y="5436108"/>
            <a:ext cx="78638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Calibri"/>
              </a:rPr>
              <a:t>0.165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03703" y="5417820"/>
            <a:ext cx="749808" cy="173736"/>
          </a:xfrm>
          <a:prstGeom prst="rect">
            <a:avLst/>
          </a:prstGeom>
          <a:solidFill>
            <a:srgbClr val="122840"/>
          </a:solidFill>
          <a:ln w="381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221991" y="5436108"/>
            <a:ext cx="713231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A000"/>
                </a:solidFill>
                <a:latin typeface="Calibri"/>
              </a:rPr>
              <a:t>0.567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18103" y="5417820"/>
            <a:ext cx="749808" cy="173736"/>
          </a:xfrm>
          <a:prstGeom prst="rect">
            <a:avLst/>
          </a:prstGeom>
          <a:solidFill>
            <a:srgbClr val="122840"/>
          </a:solidFill>
          <a:ln w="381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136391" y="5436108"/>
            <a:ext cx="713231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Calibri"/>
              </a:rPr>
              <a:t>0.593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596128"/>
            <a:ext cx="777240" cy="173736"/>
          </a:xfrm>
          <a:prstGeom prst="rect">
            <a:avLst/>
          </a:prstGeom>
          <a:solidFill>
            <a:srgbClr val="0F3F6B"/>
          </a:solidFill>
          <a:ln w="381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92608" y="5614416"/>
            <a:ext cx="74066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Calibri"/>
              </a:rPr>
              <a:t>S03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16151" y="5596128"/>
            <a:ext cx="822960" cy="173736"/>
          </a:xfrm>
          <a:prstGeom prst="rect">
            <a:avLst/>
          </a:prstGeom>
          <a:solidFill>
            <a:srgbClr val="0F3F6B"/>
          </a:solidFill>
          <a:ln w="381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234439" y="5614416"/>
            <a:ext cx="78638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Calibri"/>
              </a:rPr>
              <a:t>0.174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03703" y="5596128"/>
            <a:ext cx="749808" cy="173736"/>
          </a:xfrm>
          <a:prstGeom prst="rect">
            <a:avLst/>
          </a:prstGeom>
          <a:solidFill>
            <a:srgbClr val="0F3F6B"/>
          </a:solidFill>
          <a:ln w="381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221991" y="5614416"/>
            <a:ext cx="713231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A000"/>
                </a:solidFill>
                <a:latin typeface="Calibri"/>
              </a:rPr>
              <a:t>0.581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18103" y="5596128"/>
            <a:ext cx="749808" cy="173736"/>
          </a:xfrm>
          <a:prstGeom prst="rect">
            <a:avLst/>
          </a:prstGeom>
          <a:solidFill>
            <a:srgbClr val="0F3F6B"/>
          </a:solidFill>
          <a:ln w="381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136391" y="5614416"/>
            <a:ext cx="713231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Calibri"/>
              </a:rPr>
              <a:t>0.611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774436"/>
            <a:ext cx="777240" cy="173736"/>
          </a:xfrm>
          <a:prstGeom prst="rect">
            <a:avLst/>
          </a:prstGeom>
          <a:solidFill>
            <a:srgbClr val="122840"/>
          </a:solidFill>
          <a:ln w="381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92608" y="5792724"/>
            <a:ext cx="74066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Calibri"/>
              </a:rPr>
              <a:t>S04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16151" y="5774436"/>
            <a:ext cx="822960" cy="173736"/>
          </a:xfrm>
          <a:prstGeom prst="rect">
            <a:avLst/>
          </a:prstGeom>
          <a:solidFill>
            <a:srgbClr val="122840"/>
          </a:solidFill>
          <a:ln w="381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234439" y="5792724"/>
            <a:ext cx="78638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Calibri"/>
              </a:rPr>
              <a:t>0.181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03703" y="5774436"/>
            <a:ext cx="749808" cy="173736"/>
          </a:xfrm>
          <a:prstGeom prst="rect">
            <a:avLst/>
          </a:prstGeom>
          <a:solidFill>
            <a:srgbClr val="122840"/>
          </a:solidFill>
          <a:ln w="381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221991" y="5792724"/>
            <a:ext cx="713231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6D6A0"/>
                </a:solidFill>
                <a:latin typeface="Calibri"/>
              </a:rPr>
              <a:t>0.616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18103" y="5774436"/>
            <a:ext cx="749808" cy="173736"/>
          </a:xfrm>
          <a:prstGeom prst="rect">
            <a:avLst/>
          </a:prstGeom>
          <a:solidFill>
            <a:srgbClr val="122840"/>
          </a:solidFill>
          <a:ln w="381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136391" y="5792724"/>
            <a:ext cx="713231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Calibri"/>
              </a:rPr>
              <a:t>0.667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5952744"/>
            <a:ext cx="777240" cy="173736"/>
          </a:xfrm>
          <a:prstGeom prst="rect">
            <a:avLst/>
          </a:prstGeom>
          <a:solidFill>
            <a:srgbClr val="0F3F6B"/>
          </a:solidFill>
          <a:ln w="381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92608" y="5971032"/>
            <a:ext cx="74066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Calibri"/>
              </a:rPr>
              <a:t>S05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16151" y="5952744"/>
            <a:ext cx="822960" cy="173736"/>
          </a:xfrm>
          <a:prstGeom prst="rect">
            <a:avLst/>
          </a:prstGeom>
          <a:solidFill>
            <a:srgbClr val="0F3F6B"/>
          </a:solidFill>
          <a:ln w="381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234439" y="5971032"/>
            <a:ext cx="78638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Calibri"/>
              </a:rPr>
              <a:t>0.165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03703" y="5952744"/>
            <a:ext cx="749808" cy="173736"/>
          </a:xfrm>
          <a:prstGeom prst="rect">
            <a:avLst/>
          </a:prstGeom>
          <a:solidFill>
            <a:srgbClr val="0F3F6B"/>
          </a:solidFill>
          <a:ln w="381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221991" y="5971032"/>
            <a:ext cx="713231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6D6A0"/>
                </a:solidFill>
                <a:latin typeface="Calibri"/>
              </a:rPr>
              <a:t>0.628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18103" y="5952744"/>
            <a:ext cx="749808" cy="173736"/>
          </a:xfrm>
          <a:prstGeom prst="rect">
            <a:avLst/>
          </a:prstGeom>
          <a:solidFill>
            <a:srgbClr val="0F3F6B"/>
          </a:solidFill>
          <a:ln w="381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136391" y="5971032"/>
            <a:ext cx="713231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Calibri"/>
              </a:rPr>
              <a:t>0.684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6131052"/>
            <a:ext cx="777240" cy="173736"/>
          </a:xfrm>
          <a:prstGeom prst="rect">
            <a:avLst/>
          </a:prstGeom>
          <a:solidFill>
            <a:srgbClr val="122840"/>
          </a:solidFill>
          <a:ln w="381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92608" y="6149340"/>
            <a:ext cx="74066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Calibri"/>
              </a:rPr>
              <a:t>S06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216151" y="6131052"/>
            <a:ext cx="822960" cy="173736"/>
          </a:xfrm>
          <a:prstGeom prst="rect">
            <a:avLst/>
          </a:prstGeom>
          <a:solidFill>
            <a:srgbClr val="122840"/>
          </a:solidFill>
          <a:ln w="381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234439" y="6149340"/>
            <a:ext cx="78638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Calibri"/>
              </a:rPr>
              <a:t>0.154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03703" y="6131052"/>
            <a:ext cx="749808" cy="173736"/>
          </a:xfrm>
          <a:prstGeom prst="rect">
            <a:avLst/>
          </a:prstGeom>
          <a:solidFill>
            <a:srgbClr val="122840"/>
          </a:solidFill>
          <a:ln w="381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221991" y="6149340"/>
            <a:ext cx="713231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6D6A0"/>
                </a:solidFill>
                <a:latin typeface="Calibri"/>
              </a:rPr>
              <a:t>0.621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118103" y="6131052"/>
            <a:ext cx="749808" cy="173736"/>
          </a:xfrm>
          <a:prstGeom prst="rect">
            <a:avLst/>
          </a:prstGeom>
          <a:solidFill>
            <a:srgbClr val="122840"/>
          </a:solidFill>
          <a:ln w="381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136391" y="6149340"/>
            <a:ext cx="713231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Calibri"/>
              </a:rPr>
              <a:t>0.668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6309360"/>
            <a:ext cx="777240" cy="173736"/>
          </a:xfrm>
          <a:prstGeom prst="rect">
            <a:avLst/>
          </a:prstGeom>
          <a:solidFill>
            <a:srgbClr val="0F3F6B"/>
          </a:solidFill>
          <a:ln w="381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92608" y="6327648"/>
            <a:ext cx="74066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Calibri"/>
              </a:rPr>
              <a:t>S07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216151" y="6309360"/>
            <a:ext cx="822960" cy="173736"/>
          </a:xfrm>
          <a:prstGeom prst="rect">
            <a:avLst/>
          </a:prstGeom>
          <a:solidFill>
            <a:srgbClr val="0F3F6B"/>
          </a:solidFill>
          <a:ln w="381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234439" y="6327648"/>
            <a:ext cx="78638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Calibri"/>
              </a:rPr>
              <a:t>0.183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203703" y="6309360"/>
            <a:ext cx="749808" cy="173736"/>
          </a:xfrm>
          <a:prstGeom prst="rect">
            <a:avLst/>
          </a:prstGeom>
          <a:solidFill>
            <a:srgbClr val="0F3F6B"/>
          </a:solidFill>
          <a:ln w="381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221991" y="6327648"/>
            <a:ext cx="713231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6D6A0"/>
                </a:solidFill>
                <a:latin typeface="Calibri"/>
              </a:rPr>
              <a:t>0.690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118103" y="6309360"/>
            <a:ext cx="749808" cy="173736"/>
          </a:xfrm>
          <a:prstGeom prst="rect">
            <a:avLst/>
          </a:prstGeom>
          <a:solidFill>
            <a:srgbClr val="0F3F6B"/>
          </a:solidFill>
          <a:ln w="381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136391" y="6327648"/>
            <a:ext cx="713231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Calibri"/>
              </a:rPr>
              <a:t>0.750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6487668"/>
            <a:ext cx="777240" cy="173736"/>
          </a:xfrm>
          <a:prstGeom prst="rect">
            <a:avLst/>
          </a:prstGeom>
          <a:solidFill>
            <a:srgbClr val="122840"/>
          </a:solidFill>
          <a:ln w="381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92608" y="6505956"/>
            <a:ext cx="74066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Calibri"/>
              </a:rPr>
              <a:t>S08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216151" y="6487668"/>
            <a:ext cx="822960" cy="173736"/>
          </a:xfrm>
          <a:prstGeom prst="rect">
            <a:avLst/>
          </a:prstGeom>
          <a:solidFill>
            <a:srgbClr val="122840"/>
          </a:solidFill>
          <a:ln w="381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234439" y="6505956"/>
            <a:ext cx="78638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Calibri"/>
              </a:rPr>
              <a:t>0.156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203703" y="6487668"/>
            <a:ext cx="749808" cy="173736"/>
          </a:xfrm>
          <a:prstGeom prst="rect">
            <a:avLst/>
          </a:prstGeom>
          <a:solidFill>
            <a:srgbClr val="122840"/>
          </a:solidFill>
          <a:ln w="381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221991" y="6505956"/>
            <a:ext cx="713231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6D6A0"/>
                </a:solidFill>
                <a:latin typeface="Calibri"/>
              </a:rPr>
              <a:t>0.627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118103" y="6487668"/>
            <a:ext cx="749808" cy="173736"/>
          </a:xfrm>
          <a:prstGeom prst="rect">
            <a:avLst/>
          </a:prstGeom>
          <a:solidFill>
            <a:srgbClr val="122840"/>
          </a:solidFill>
          <a:ln w="381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136391" y="6505956"/>
            <a:ext cx="713231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Calibri"/>
              </a:rPr>
              <a:t>0.672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754880" y="4526280"/>
            <a:ext cx="2286000" cy="1005840"/>
          </a:xfrm>
          <a:prstGeom prst="rect">
            <a:avLst/>
          </a:prstGeom>
          <a:solidFill>
            <a:srgbClr val="0A29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800600" y="45994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Calibrated BAcc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00600" y="481888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6D6A0"/>
                </a:solidFill>
                <a:latin typeface="Calibri"/>
              </a:rPr>
              <a:t>0.605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800600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Calibri"/>
              </a:rPr>
              <a:t>vs 0.517 uncalib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178040" y="4526280"/>
            <a:ext cx="2286000" cy="1005840"/>
          </a:xfrm>
          <a:prstGeom prst="rect">
            <a:avLst/>
          </a:prstGeom>
          <a:solidFill>
            <a:srgbClr val="0A29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223759" y="45994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ROC-AUC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223759" y="481888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6D6A0"/>
                </a:solidFill>
                <a:latin typeface="Calibri"/>
              </a:rPr>
              <a:t>0.648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223759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Calibri"/>
              </a:rPr>
              <a:t>unchanged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601200" y="4526280"/>
            <a:ext cx="2331720" cy="1005840"/>
          </a:xfrm>
          <a:prstGeom prst="rect">
            <a:avLst/>
          </a:prstGeom>
          <a:solidFill>
            <a:srgbClr val="0A29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646920" y="4599432"/>
            <a:ext cx="2240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PR-AUC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646920" y="4818888"/>
            <a:ext cx="2240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6D6A0"/>
                </a:solidFill>
                <a:latin typeface="Calibri"/>
              </a:rPr>
              <a:t>0.296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646920" y="5276088"/>
            <a:ext cx="2240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Calibri"/>
              </a:rPr>
              <a:t>1.78× random</a:t>
            </a:r>
          </a:p>
        </p:txBody>
      </p:sp>
      <p:sp>
        <p:nvSpPr>
          <p:cNvPr id="96" name="Rectangle 9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080"/>
                </a:solidFill>
                <a:latin typeface="Calibri"/>
              </a:rPr>
              <a:t>M.Tech Project  |  P300 EEG Classification  |  2025-26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Results Summary — All Versions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  <a:latin typeface="Calibri"/>
              </a:rPr>
              <a:t>Progressive improvement from raw features to calibrated Riemannian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1097280" cy="411480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261872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4D8"/>
                </a:solidFill>
                <a:latin typeface="Calibri"/>
              </a:rPr>
              <a:t>Version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426464" y="1234440"/>
            <a:ext cx="3017520" cy="411480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72184" y="1261872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4D8"/>
                </a:solidFill>
                <a:latin typeface="Calibri"/>
              </a:rPr>
              <a:t>Method</a:t>
            </a:r>
          </a:p>
        </p:txBody>
      </p:sp>
      <p:sp>
        <p:nvSpPr>
          <p:cNvPr id="9" name="Rectangle 8"/>
          <p:cNvSpPr/>
          <p:nvPr/>
        </p:nvSpPr>
        <p:spPr>
          <a:xfrm>
            <a:off x="4498848" y="1234440"/>
            <a:ext cx="731520" cy="411480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44568" y="126187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4D8"/>
                </a:solidFill>
                <a:latin typeface="Calibri"/>
              </a:rPr>
              <a:t>Eval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85231" y="1234440"/>
            <a:ext cx="822960" cy="411480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30951" y="12618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4D8"/>
                </a:solidFill>
                <a:latin typeface="Calibri"/>
              </a:rPr>
              <a:t>BAcc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3056" y="1234440"/>
            <a:ext cx="914400" cy="411480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08776" y="126187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4D8"/>
                </a:solidFill>
                <a:latin typeface="Calibri"/>
              </a:rPr>
              <a:t>ROC-AUC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1234440"/>
            <a:ext cx="868680" cy="411480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1261872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4D8"/>
                </a:solidFill>
                <a:latin typeface="Calibri"/>
              </a:rPr>
              <a:t>PR-AUC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55864" y="1234440"/>
            <a:ext cx="3246120" cy="411480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01584" y="1261872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4D8"/>
                </a:solidFill>
                <a:latin typeface="Calibri"/>
              </a:rPr>
              <a:t>Notes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645920"/>
            <a:ext cx="1097280" cy="45720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10896" y="1737360"/>
            <a:ext cx="10241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v1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26464" y="1645920"/>
            <a:ext cx="3017520" cy="45720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63040" y="1737360"/>
            <a:ext cx="2944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rLDA 120d raw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98848" y="1645920"/>
            <a:ext cx="731520" cy="45720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35424" y="1737360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85231" y="1645920"/>
            <a:ext cx="822960" cy="45720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21807" y="1737360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6D6A0"/>
                </a:solidFill>
                <a:latin typeface="Calibri"/>
              </a:rPr>
              <a:t>0.612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3056" y="1645920"/>
            <a:ext cx="914400" cy="45720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99632" y="1737360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0.762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1645920"/>
            <a:ext cx="868680" cy="45720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68896" y="1737360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55864" y="1645920"/>
            <a:ext cx="3246120" cy="45720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92440" y="1737360"/>
            <a:ext cx="3172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Strong within-subject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2121408"/>
            <a:ext cx="1097280" cy="45720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10896" y="2212848"/>
            <a:ext cx="10241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v1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26464" y="2121408"/>
            <a:ext cx="3017520" cy="45720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463040" y="2212848"/>
            <a:ext cx="2944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rLDA 120d raw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98848" y="2121408"/>
            <a:ext cx="731520" cy="45720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35424" y="2212848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LOSO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85231" y="2121408"/>
            <a:ext cx="822960" cy="45720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21807" y="2212848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A000"/>
                </a:solidFill>
                <a:latin typeface="Calibri"/>
              </a:rPr>
              <a:t>0.519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63056" y="2121408"/>
            <a:ext cx="914400" cy="45720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99632" y="2212848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0.636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2320" y="2121408"/>
            <a:ext cx="868680" cy="45720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168896" y="2212848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5864" y="2121408"/>
            <a:ext cx="3246120" cy="45720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092440" y="2212848"/>
            <a:ext cx="3172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A000"/>
                </a:solidFill>
                <a:latin typeface="Calibri"/>
              </a:rPr>
              <a:t>Near-chance BAcc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2596896"/>
            <a:ext cx="1097280" cy="45720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10896" y="2688336"/>
            <a:ext cx="10241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v3 k=0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426464" y="2596896"/>
            <a:ext cx="3017520" cy="45720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463040" y="2688336"/>
            <a:ext cx="2944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rLDA 120d CAR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98848" y="2596896"/>
            <a:ext cx="731520" cy="45720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535424" y="2688336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LOSO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85231" y="2596896"/>
            <a:ext cx="822960" cy="45720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321807" y="2688336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A000"/>
                </a:solidFill>
                <a:latin typeface="Calibri"/>
              </a:rPr>
              <a:t>0.509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63056" y="2596896"/>
            <a:ext cx="914400" cy="45720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199632" y="2688336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0.607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32320" y="2596896"/>
            <a:ext cx="868680" cy="45720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168896" y="2688336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55864" y="2596896"/>
            <a:ext cx="3246120" cy="45720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092440" y="2688336"/>
            <a:ext cx="3172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Calibri"/>
              </a:rPr>
              <a:t>CAR/filter gives no LOSO gain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3072384"/>
            <a:ext cx="1097280" cy="45720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10896" y="3163824"/>
            <a:ext cx="10241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v3 k=6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426464" y="3072384"/>
            <a:ext cx="3017520" cy="45720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463040" y="3163824"/>
            <a:ext cx="2944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rLDA+xDAWN(6)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98848" y="3072384"/>
            <a:ext cx="731520" cy="45720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535424" y="3163824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LOSO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285231" y="3072384"/>
            <a:ext cx="822960" cy="45720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321807" y="3163824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A000"/>
                </a:solidFill>
                <a:latin typeface="Calibri"/>
              </a:rPr>
              <a:t>0.509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63056" y="3072384"/>
            <a:ext cx="914400" cy="45720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199632" y="3163824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0.605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132320" y="3072384"/>
            <a:ext cx="868680" cy="45720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168896" y="3163824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055864" y="3072384"/>
            <a:ext cx="3246120" cy="45720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092440" y="3163824"/>
            <a:ext cx="3172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Calibri"/>
              </a:rPr>
              <a:t>xDAWN does not help LOSO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3547872"/>
            <a:ext cx="1097280" cy="45720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10896" y="3639312"/>
            <a:ext cx="10241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v4 nf=4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426464" y="3547872"/>
            <a:ext cx="3017520" cy="45720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463040" y="3639312"/>
            <a:ext cx="2944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Riem EA+TS rLDA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498848" y="3547872"/>
            <a:ext cx="731520" cy="45720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535424" y="3639312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WS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285231" y="3547872"/>
            <a:ext cx="822960" cy="45720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321807" y="3639312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6D6A0"/>
                </a:solidFill>
                <a:latin typeface="Calibri"/>
              </a:rPr>
              <a:t>0.600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163056" y="3547872"/>
            <a:ext cx="914400" cy="45720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199632" y="3639312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0.746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132320" y="3547872"/>
            <a:ext cx="868680" cy="45720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168896" y="3639312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0.443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055864" y="3547872"/>
            <a:ext cx="3246120" cy="45720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092440" y="3639312"/>
            <a:ext cx="3172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Best WS after v1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4023360"/>
            <a:ext cx="1097280" cy="45720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310896" y="4114800"/>
            <a:ext cx="10241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v4 nf=4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426464" y="4023360"/>
            <a:ext cx="3017520" cy="45720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463040" y="4114800"/>
            <a:ext cx="2944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Riem EA+TS rLDA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498848" y="4023360"/>
            <a:ext cx="731520" cy="45720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4535424" y="4114800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LOSO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285231" y="4023360"/>
            <a:ext cx="822960" cy="45720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321807" y="4114800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A000"/>
                </a:solidFill>
                <a:latin typeface="Calibri"/>
              </a:rPr>
              <a:t>0.517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163056" y="4023360"/>
            <a:ext cx="914400" cy="45720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199632" y="4114800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0.648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132320" y="4023360"/>
            <a:ext cx="868680" cy="45720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7168896" y="4114800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0.296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055864" y="4023360"/>
            <a:ext cx="3246120" cy="45720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8092440" y="4114800"/>
            <a:ext cx="3172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A000"/>
                </a:solidFill>
                <a:latin typeface="Calibri"/>
              </a:rPr>
              <a:t>Best AUC, threshold issue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" y="4498848"/>
            <a:ext cx="1097280" cy="457200"/>
          </a:xfrm>
          <a:prstGeom prst="rect">
            <a:avLst/>
          </a:prstGeom>
          <a:solidFill>
            <a:srgbClr val="053018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310896" y="4590288"/>
            <a:ext cx="10241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v4+cal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426464" y="4498848"/>
            <a:ext cx="3017520" cy="457200"/>
          </a:xfrm>
          <a:prstGeom prst="rect">
            <a:avLst/>
          </a:prstGeom>
          <a:solidFill>
            <a:srgbClr val="053018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463040" y="4590288"/>
            <a:ext cx="2944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Riem+Youden's J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498848" y="4498848"/>
            <a:ext cx="731520" cy="457200"/>
          </a:xfrm>
          <a:prstGeom prst="rect">
            <a:avLst/>
          </a:prstGeom>
          <a:solidFill>
            <a:srgbClr val="053018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4535424" y="4590288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LOSO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285231" y="4498848"/>
            <a:ext cx="822960" cy="457200"/>
          </a:xfrm>
          <a:prstGeom prst="rect">
            <a:avLst/>
          </a:prstGeom>
          <a:solidFill>
            <a:srgbClr val="053018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5321807" y="4590288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6D6A0"/>
                </a:solidFill>
                <a:latin typeface="Calibri"/>
              </a:rPr>
              <a:t>0.605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63056" y="4498848"/>
            <a:ext cx="914400" cy="457200"/>
          </a:xfrm>
          <a:prstGeom prst="rect">
            <a:avLst/>
          </a:prstGeom>
          <a:solidFill>
            <a:srgbClr val="053018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199632" y="4590288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0C4DE"/>
                </a:solidFill>
                <a:latin typeface="Calibri"/>
              </a:rPr>
              <a:t>0.648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132320" y="4498848"/>
            <a:ext cx="868680" cy="457200"/>
          </a:xfrm>
          <a:prstGeom prst="rect">
            <a:avLst/>
          </a:prstGeom>
          <a:solidFill>
            <a:srgbClr val="053018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168896" y="4590288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0C4DE"/>
                </a:solidFill>
                <a:latin typeface="Calibri"/>
              </a:rPr>
              <a:t>0.296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055864" y="4498848"/>
            <a:ext cx="3246120" cy="457200"/>
          </a:xfrm>
          <a:prstGeom prst="rect">
            <a:avLst/>
          </a:prstGeom>
          <a:solidFill>
            <a:srgbClr val="053018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092440" y="4590288"/>
            <a:ext cx="3172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D6A0"/>
                </a:solidFill>
                <a:latin typeface="Calibri"/>
              </a:rPr>
              <a:t>BEST cross-subject system ★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20040" y="507492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090A0"/>
                </a:solidFill>
                <a:latin typeface="Calibri"/>
              </a:rPr>
              <a:t>Random baselines:  BAcc=0.500   AUC=0.500   PR-AUC=0.167 (= prevalence 16.65%)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080"/>
                </a:solidFill>
                <a:latin typeface="Calibri"/>
              </a:rPr>
              <a:t>M.Tech Project  |  P300 EEG Classification  |  2025-26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Why These Metrics?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  <a:latin typeface="Calibri"/>
              </a:rPr>
              <a:t>Accuracy is misleading under 83:17 imbalance — three complementary metrics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3703320" cy="5029200"/>
          </a:xfrm>
          <a:prstGeom prst="rect">
            <a:avLst/>
          </a:prstGeom>
          <a:solidFill>
            <a:srgbClr val="0F3F6B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79" y="132588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6D6A0"/>
                </a:solidFill>
                <a:latin typeface="Calibri"/>
              </a:rPr>
              <a:t>Balanced Accuracy
(BAcc)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901952"/>
            <a:ext cx="2788920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993392"/>
            <a:ext cx="3429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= (TPR + TNR) / 2
Equal weight to both classes.
Random baseline = 0.500.
Our best = 0.605.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79" y="4023360"/>
            <a:ext cx="3520440" cy="36576"/>
          </a:xfrm>
          <a:prstGeom prst="rect">
            <a:avLst/>
          </a:prstGeom>
          <a:solidFill>
            <a:srgbClr val="3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4133087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6D6A0"/>
                </a:solidFill>
                <a:latin typeface="Calibri"/>
              </a:rPr>
              <a:t>Measures threshold
performance fairly.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9392" y="1234440"/>
            <a:ext cx="3703320" cy="5029200"/>
          </a:xfrm>
          <a:prstGeom prst="rect">
            <a:avLst/>
          </a:prstGeom>
          <a:solidFill>
            <a:srgbClr val="0F3F6B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70831" y="132588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B4D8"/>
                </a:solidFill>
                <a:latin typeface="Calibri"/>
              </a:rPr>
              <a:t>ROC-AUC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36592" y="1901952"/>
            <a:ext cx="27889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16552" y="1993392"/>
            <a:ext cx="3429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Area under ROC curve.
Threshold-free ranking metric.
Random baseline = 0.500.
Our best LOSO = 0.648.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0831" y="4023360"/>
            <a:ext cx="3520440" cy="36576"/>
          </a:xfrm>
          <a:prstGeom prst="rect">
            <a:avLst/>
          </a:prstGeom>
          <a:solidFill>
            <a:srgbClr val="3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16552" y="4133087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  <a:latin typeface="Calibri"/>
              </a:rPr>
              <a:t>Does the model rank
targets above non-targets?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38744" y="1234440"/>
            <a:ext cx="3703320" cy="5029200"/>
          </a:xfrm>
          <a:prstGeom prst="rect">
            <a:avLst/>
          </a:prstGeom>
          <a:solidFill>
            <a:srgbClr val="0F3F6B"/>
          </a:solidFill>
          <a:ln w="2540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0183" y="132588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A000"/>
                </a:solidFill>
                <a:latin typeface="Calibri"/>
              </a:rPr>
              <a:t>PR-AUC
(Avg Precision)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95944" y="1901952"/>
            <a:ext cx="2788920" cy="36576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75904" y="1993392"/>
            <a:ext cx="3429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Area under Precision-Recall.
Sensitive to minority class.
Random baseline = prevalence
= 0.1665.
Our best = 0.296 (1.78×).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0183" y="4023360"/>
            <a:ext cx="3520440" cy="36576"/>
          </a:xfrm>
          <a:prstGeom prst="rect">
            <a:avLst/>
          </a:prstGeom>
          <a:solidFill>
            <a:srgbClr val="3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75904" y="4133087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A000"/>
                </a:solidFill>
                <a:latin typeface="Calibri"/>
              </a:rPr>
              <a:t>Most honest metric
under severe imbalance.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640080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0C4DE"/>
                </a:solidFill>
                <a:latin typeface="Calibri"/>
              </a:rPr>
              <a:t>All three metrics are reported — they measure different aspects of the same classifier.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080"/>
                </a:solidFill>
                <a:latin typeface="Calibri"/>
              </a:rPr>
              <a:t>M.Tech Project  |  P300 EEG Classification  |  2025-26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Conclusions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5577840" cy="5029200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61872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Conclusions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60020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1300" b="1">
                <a:solidFill>
                  <a:srgbClr val="FFA000"/>
                </a:solidFill>
                <a:latin typeface="Calibri"/>
              </a:rPr>
              <a:t>1.  Label sanity check is critical</a:t>
            </a:r>
          </a:p>
          <a:p>
            <a:pPr algn="l">
              <a:lnSpc>
                <a:spcPct val="114999"/>
              </a:lnSpc>
            </a:pPr>
            <a:r>
              <a:rPr sz="1300" b="0">
                <a:solidFill>
                  <a:srgbClr val="B0C4DE"/>
                </a:solidFill>
                <a:latin typeface="Calibri"/>
              </a:rPr>
              <a:t>    flash[:,3]==2 is TARGET; original code had it inverted.</a:t>
            </a:r>
          </a:p>
          <a:p>
            <a:pPr algn="l">
              <a:lnSpc>
                <a:spcPct val="114999"/>
              </a:lnSpc>
            </a:pPr>
            <a:endParaRPr sz="1300" b="0">
              <a:solidFill>
                <a:srgbClr val="B0C4DE"/>
              </a:solidFill>
              <a:latin typeface="Calibri"/>
            </a:endParaRPr>
          </a:p>
          <a:p>
            <a:pPr algn="l">
              <a:lnSpc>
                <a:spcPct val="114999"/>
              </a:lnSpc>
            </a:pPr>
            <a:r>
              <a:rPr sz="1300" b="1">
                <a:solidFill>
                  <a:srgbClr val="06D6A0"/>
                </a:solidFill>
                <a:latin typeface="Calibri"/>
              </a:rPr>
              <a:t>2.  Within-subject P300 is detectable</a:t>
            </a:r>
          </a:p>
          <a:p>
            <a:pPr algn="l">
              <a:lnSpc>
                <a:spcPct val="114999"/>
              </a:lnSpc>
            </a:pPr>
            <a:r>
              <a:rPr sz="1300" b="0">
                <a:solidFill>
                  <a:srgbClr val="B0C4DE"/>
                </a:solidFill>
                <a:latin typeface="Calibri"/>
              </a:rPr>
              <a:t>    v1 rLDA:  WS BAcc=0.612,  AUC=0.762</a:t>
            </a:r>
          </a:p>
          <a:p>
            <a:pPr algn="l">
              <a:lnSpc>
                <a:spcPct val="114999"/>
              </a:lnSpc>
            </a:pPr>
            <a:endParaRPr sz="1300" b="0">
              <a:solidFill>
                <a:srgbClr val="B0C4DE"/>
              </a:solidFill>
              <a:latin typeface="Calibri"/>
            </a:endParaRPr>
          </a:p>
          <a:p>
            <a:pPr algn="l">
              <a:lnSpc>
                <a:spcPct val="114999"/>
              </a:lnSpc>
            </a:pPr>
            <a:r>
              <a:rPr sz="1300" b="1">
                <a:solidFill>
                  <a:srgbClr val="FFA000"/>
                </a:solidFill>
                <a:latin typeface="Calibri"/>
              </a:rPr>
              <a:t>3.  xDAWN does not help cross-subject</a:t>
            </a:r>
          </a:p>
          <a:p>
            <a:pPr algn="l">
              <a:lnSpc>
                <a:spcPct val="114999"/>
              </a:lnSpc>
            </a:pPr>
            <a:r>
              <a:rPr sz="1300" b="0">
                <a:solidFill>
                  <a:srgbClr val="B0C4DE"/>
                </a:solidFill>
                <a:latin typeface="Calibri"/>
              </a:rPr>
              <a:t>    8-channel spatial filter doesn't transfer (v3 sweep).</a:t>
            </a:r>
          </a:p>
          <a:p>
            <a:pPr algn="l">
              <a:lnSpc>
                <a:spcPct val="114999"/>
              </a:lnSpc>
            </a:pPr>
            <a:endParaRPr sz="1300" b="0">
              <a:solidFill>
                <a:srgbClr val="B0C4DE"/>
              </a:solidFill>
              <a:latin typeface="Calibri"/>
            </a:endParaRPr>
          </a:p>
          <a:p>
            <a:pPr algn="l">
              <a:lnSpc>
                <a:spcPct val="114999"/>
              </a:lnSpc>
            </a:pPr>
            <a:r>
              <a:rPr sz="1300" b="1">
                <a:solidFill>
                  <a:srgbClr val="06D6A0"/>
                </a:solidFill>
                <a:latin typeface="Calibri"/>
              </a:rPr>
              <a:t>4.  Riemannian geometry improves ranking</a:t>
            </a:r>
          </a:p>
          <a:p>
            <a:pPr algn="l">
              <a:lnSpc>
                <a:spcPct val="114999"/>
              </a:lnSpc>
            </a:pPr>
            <a:r>
              <a:rPr sz="1300" b="0">
                <a:solidFill>
                  <a:srgbClr val="B0C4DE"/>
                </a:solidFill>
                <a:latin typeface="Calibri"/>
              </a:rPr>
              <a:t>    LOSO AUC: 0.636 → 0.648 with EA + TangentSpace.</a:t>
            </a:r>
          </a:p>
          <a:p>
            <a:pPr algn="l">
              <a:lnSpc>
                <a:spcPct val="114999"/>
              </a:lnSpc>
            </a:pPr>
            <a:endParaRPr sz="1300" b="0">
              <a:solidFill>
                <a:srgbClr val="B0C4DE"/>
              </a:solidFill>
              <a:latin typeface="Calibri"/>
            </a:endParaRPr>
          </a:p>
          <a:p>
            <a:pPr algn="l">
              <a:lnSpc>
                <a:spcPct val="114999"/>
              </a:lnSpc>
            </a:pPr>
            <a:r>
              <a:rPr sz="1300" b="1">
                <a:solidFill>
                  <a:srgbClr val="06D6A0"/>
                </a:solidFill>
                <a:latin typeface="Calibri"/>
              </a:rPr>
              <a:t>5.  Threshold calibration recovers BAcc</a:t>
            </a:r>
          </a:p>
          <a:p>
            <a:pPr algn="l">
              <a:lnSpc>
                <a:spcPct val="114999"/>
              </a:lnSpc>
            </a:pPr>
            <a:r>
              <a:rPr sz="1300" b="0">
                <a:solidFill>
                  <a:srgbClr val="B0C4DE"/>
                </a:solidFill>
                <a:latin typeface="Calibri"/>
              </a:rPr>
              <a:t>    Youden's J:  BAcc 0.517 → 0.605  (+8.8 pp)</a:t>
            </a:r>
          </a:p>
          <a:p>
            <a:pPr algn="l">
              <a:lnSpc>
                <a:spcPct val="114999"/>
              </a:lnSpc>
            </a:pPr>
            <a:endParaRPr sz="1300" b="0">
              <a:solidFill>
                <a:srgbClr val="B0C4DE"/>
              </a:solidFill>
              <a:latin typeface="Calibri"/>
            </a:endParaRPr>
          </a:p>
          <a:p>
            <a:pPr algn="l">
              <a:lnSpc>
                <a:spcPct val="114999"/>
              </a:lnSpc>
            </a:pPr>
            <a:r>
              <a:rPr sz="1300" b="1">
                <a:solidFill>
                  <a:srgbClr val="00B4D8"/>
                </a:solidFill>
                <a:latin typeface="Calibri"/>
              </a:rPr>
              <a:t>Best system:  v4 nf=4 + Youden's J</a:t>
            </a:r>
          </a:p>
          <a:p>
            <a:pPr algn="l">
              <a:lnSpc>
                <a:spcPct val="114999"/>
              </a:lnSpc>
            </a:pPr>
            <a:r>
              <a:rPr sz="1300" b="0">
                <a:solidFill>
                  <a:srgbClr val="B0C4DE"/>
                </a:solidFill>
                <a:latin typeface="Calibri"/>
              </a:rPr>
              <a:t>  LOSO  BAcc=0.605  AUC=0.648  PR=0.296 (1.78× chance)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188720"/>
            <a:ext cx="5760720" cy="5029200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72200" y="126187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0020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1300" b="1">
                <a:solidFill>
                  <a:srgbClr val="00B4D8"/>
                </a:solidFill>
                <a:latin typeface="Calibri"/>
              </a:rPr>
              <a:t>Short term:</a:t>
            </a:r>
          </a:p>
          <a:p>
            <a:pPr algn="l">
              <a:lnSpc>
                <a:spcPct val="114999"/>
              </a:lnSpc>
            </a:pPr>
            <a:r>
              <a:rPr sz="1300" b="0">
                <a:solidFill>
                  <a:srgbClr val="B0C4DE"/>
                </a:solidFill>
                <a:latin typeface="Calibri"/>
              </a:rPr>
              <a:t>  • Sweep nfilter to 6, 8</a:t>
            </a:r>
          </a:p>
          <a:p>
            <a:pPr algn="l">
              <a:lnSpc>
                <a:spcPct val="114999"/>
              </a:lnSpc>
            </a:pPr>
            <a:r>
              <a:rPr sz="1300" b="0">
                <a:solidFill>
                  <a:srgbClr val="B0C4DE"/>
                </a:solidFill>
                <a:latin typeface="Calibri"/>
              </a:rPr>
              <a:t>  • Try MDM (Minimum Distance to Mean)</a:t>
            </a:r>
          </a:p>
          <a:p>
            <a:pPr algn="l">
              <a:lnSpc>
                <a:spcPct val="114999"/>
              </a:lnSpc>
            </a:pPr>
            <a:r>
              <a:rPr sz="1300" b="0">
                <a:solidFill>
                  <a:srgbClr val="B0C4DE"/>
                </a:solidFill>
                <a:latin typeface="Calibri"/>
              </a:rPr>
              <a:t>    as Riemannian classifier</a:t>
            </a:r>
          </a:p>
          <a:p>
            <a:pPr algn="l">
              <a:lnSpc>
                <a:spcPct val="114999"/>
              </a:lnSpc>
            </a:pPr>
            <a:r>
              <a:rPr sz="1300" b="0">
                <a:solidFill>
                  <a:srgbClr val="B0C4DE"/>
                </a:solidFill>
                <a:latin typeface="Calibri"/>
              </a:rPr>
              <a:t>  • Platt scaling as alternative calibration</a:t>
            </a:r>
          </a:p>
          <a:p>
            <a:pPr algn="l">
              <a:lnSpc>
                <a:spcPct val="114999"/>
              </a:lnSpc>
            </a:pPr>
            <a:endParaRPr sz="1300" b="0">
              <a:solidFill>
                <a:srgbClr val="B0C4DE"/>
              </a:solidFill>
              <a:latin typeface="Calibri"/>
            </a:endParaRPr>
          </a:p>
          <a:p>
            <a:pPr algn="l">
              <a:lnSpc>
                <a:spcPct val="114999"/>
              </a:lnSpc>
            </a:pPr>
            <a:r>
              <a:rPr sz="1300" b="1">
                <a:solidFill>
                  <a:srgbClr val="00B4D8"/>
                </a:solidFill>
                <a:latin typeface="Calibri"/>
              </a:rPr>
              <a:t>Medium term:</a:t>
            </a:r>
          </a:p>
          <a:p>
            <a:pPr algn="l">
              <a:lnSpc>
                <a:spcPct val="114999"/>
              </a:lnSpc>
            </a:pPr>
            <a:r>
              <a:rPr sz="1300" b="0">
                <a:solidFill>
                  <a:srgbClr val="B0C4DE"/>
                </a:solidFill>
                <a:latin typeface="Calibri"/>
              </a:rPr>
              <a:t>  • Riemannian alignment at test time</a:t>
            </a:r>
          </a:p>
          <a:p>
            <a:pPr algn="l">
              <a:lnSpc>
                <a:spcPct val="114999"/>
              </a:lnSpc>
            </a:pPr>
            <a:r>
              <a:rPr sz="1300" b="0">
                <a:solidFill>
                  <a:srgbClr val="B0C4DE"/>
                </a:solidFill>
                <a:latin typeface="Calibri"/>
              </a:rPr>
              <a:t>    (online EA with sliding window)</a:t>
            </a:r>
          </a:p>
          <a:p>
            <a:pPr algn="l">
              <a:lnSpc>
                <a:spcPct val="114999"/>
              </a:lnSpc>
            </a:pPr>
            <a:r>
              <a:rPr sz="1300" b="0">
                <a:solidFill>
                  <a:srgbClr val="B0C4DE"/>
                </a:solidFill>
                <a:latin typeface="Calibri"/>
              </a:rPr>
              <a:t>  • Subject-independent model fine-tuning</a:t>
            </a:r>
          </a:p>
          <a:p>
            <a:pPr algn="l">
              <a:lnSpc>
                <a:spcPct val="114999"/>
              </a:lnSpc>
            </a:pPr>
            <a:r>
              <a:rPr sz="1300" b="0">
                <a:solidFill>
                  <a:srgbClr val="B0C4DE"/>
                </a:solidFill>
                <a:latin typeface="Calibri"/>
              </a:rPr>
              <a:t>    with minimal labelled test data (10 trials)</a:t>
            </a:r>
          </a:p>
          <a:p>
            <a:pPr algn="l">
              <a:lnSpc>
                <a:spcPct val="114999"/>
              </a:lnSpc>
            </a:pPr>
            <a:endParaRPr sz="1300" b="0">
              <a:solidFill>
                <a:srgbClr val="B0C4DE"/>
              </a:solidFill>
              <a:latin typeface="Calibri"/>
            </a:endParaRPr>
          </a:p>
          <a:p>
            <a:pPr algn="l">
              <a:lnSpc>
                <a:spcPct val="114999"/>
              </a:lnSpc>
            </a:pPr>
            <a:r>
              <a:rPr sz="1300" b="1">
                <a:solidFill>
                  <a:srgbClr val="00B4D8"/>
                </a:solidFill>
                <a:latin typeface="Calibri"/>
              </a:rPr>
              <a:t>Long term:</a:t>
            </a:r>
          </a:p>
          <a:p>
            <a:pPr algn="l">
              <a:lnSpc>
                <a:spcPct val="114999"/>
              </a:lnSpc>
            </a:pPr>
            <a:r>
              <a:rPr sz="1300" b="0">
                <a:solidFill>
                  <a:srgbClr val="B0C4DE"/>
                </a:solidFill>
                <a:latin typeface="Calibri"/>
              </a:rPr>
              <a:t>  • Deep learning: EEGNet, ShallowConvNet</a:t>
            </a:r>
          </a:p>
          <a:p>
            <a:pPr algn="l">
              <a:lnSpc>
                <a:spcPct val="114999"/>
              </a:lnSpc>
            </a:pPr>
            <a:r>
              <a:rPr sz="1300" b="0">
                <a:solidFill>
                  <a:srgbClr val="B0C4DE"/>
                </a:solidFill>
                <a:latin typeface="Calibri"/>
              </a:rPr>
              <a:t>  • Transfer learning across datasets</a:t>
            </a:r>
          </a:p>
          <a:p>
            <a:pPr algn="l">
              <a:lnSpc>
                <a:spcPct val="114999"/>
              </a:lnSpc>
            </a:pPr>
            <a:r>
              <a:rPr sz="1300" b="0">
                <a:solidFill>
                  <a:srgbClr val="B0C4DE"/>
                </a:solidFill>
                <a:latin typeface="Calibri"/>
              </a:rPr>
              <a:t>  • Real-time P300 speller evaluation</a:t>
            </a:r>
          </a:p>
          <a:p>
            <a:pPr algn="l">
              <a:lnSpc>
                <a:spcPct val="114999"/>
              </a:lnSpc>
            </a:pPr>
            <a:r>
              <a:rPr sz="1300" b="0">
                <a:solidFill>
                  <a:srgbClr val="B0C4DE"/>
                </a:solidFill>
                <a:latin typeface="Calibri"/>
              </a:rPr>
              <a:t>  • More subjects / higher-density EEG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080"/>
                </a:solidFill>
                <a:latin typeface="Calibri"/>
              </a:rPr>
              <a:t>M.Tech Project  |  P300 EEG Classification  |  2025-26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Dataset: P300 Speller — 8 Subjects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  <a:latin typeface="Calibri"/>
              </a:rPr>
              <a:t>MATLAB .mat files, 250 Hz, 8 EEG channels, ~24 min recording per subject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Per-Subject Statistics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36192"/>
            <a:ext cx="914400" cy="347472"/>
          </a:xfrm>
          <a:prstGeom prst="rect">
            <a:avLst/>
          </a:prstGeom>
          <a:solidFill>
            <a:srgbClr val="0F3F6B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1751" y="1554480"/>
            <a:ext cx="859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  <a:latin typeface="Calibri"/>
              </a:rPr>
              <a:t>Subject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6152" y="1536192"/>
            <a:ext cx="822960" cy="347472"/>
          </a:xfrm>
          <a:prstGeom prst="rect">
            <a:avLst/>
          </a:prstGeom>
          <a:solidFill>
            <a:srgbClr val="0F3F6B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43584" y="1554480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  <a:latin typeface="Calibri"/>
              </a:rPr>
              <a:t>Epochs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66543" y="1536192"/>
            <a:ext cx="777240" cy="347472"/>
          </a:xfrm>
          <a:prstGeom prst="rect">
            <a:avLst/>
          </a:prstGeom>
          <a:solidFill>
            <a:srgbClr val="0F3F6B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93975" y="1554480"/>
            <a:ext cx="722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  <a:latin typeface="Calibri"/>
              </a:rPr>
              <a:t>Target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71215" y="1536192"/>
            <a:ext cx="1005840" cy="347472"/>
          </a:xfrm>
          <a:prstGeom prst="rect">
            <a:avLst/>
          </a:prstGeom>
          <a:solidFill>
            <a:srgbClr val="0F3F6B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98647" y="1554480"/>
            <a:ext cx="950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  <a:latin typeface="Calibri"/>
              </a:rPr>
              <a:t>Non-target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04488" y="1536192"/>
            <a:ext cx="960120" cy="347472"/>
          </a:xfrm>
          <a:prstGeom prst="rect">
            <a:avLst/>
          </a:prstGeom>
          <a:solidFill>
            <a:srgbClr val="0F3F6B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31920" y="1554480"/>
            <a:ext cx="905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  <a:latin typeface="Calibri"/>
              </a:rPr>
              <a:t>Bad Chs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92040" y="1536192"/>
            <a:ext cx="1005840" cy="347472"/>
          </a:xfrm>
          <a:prstGeom prst="rect">
            <a:avLst/>
          </a:prstGeom>
          <a:solidFill>
            <a:srgbClr val="0F3F6B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19472" y="1554480"/>
            <a:ext cx="950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  <a:latin typeface="Calibri"/>
              </a:rPr>
              <a:t>Threshold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883664"/>
            <a:ext cx="914400" cy="36576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1751" y="1947672"/>
            <a:ext cx="8595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S01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16152" y="1883664"/>
            <a:ext cx="822960" cy="36576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43584" y="1947672"/>
            <a:ext cx="768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4200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66543" y="1883664"/>
            <a:ext cx="777240" cy="36576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093975" y="1947672"/>
            <a:ext cx="7223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700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71215" y="1883664"/>
            <a:ext cx="1005840" cy="36576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898647" y="1947672"/>
            <a:ext cx="9509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3500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04488" y="1883664"/>
            <a:ext cx="960120" cy="36576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931920" y="1947672"/>
            <a:ext cx="9052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92040" y="1883664"/>
            <a:ext cx="1005840" cy="36576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19472" y="1947672"/>
            <a:ext cx="9509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150 µV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267712"/>
            <a:ext cx="914400" cy="36576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01751" y="2331720"/>
            <a:ext cx="8595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S02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16152" y="2267712"/>
            <a:ext cx="822960" cy="36576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43584" y="2331720"/>
            <a:ext cx="768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4198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66543" y="2267712"/>
            <a:ext cx="777240" cy="36576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093975" y="2331720"/>
            <a:ext cx="7223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700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71215" y="2267712"/>
            <a:ext cx="1005840" cy="36576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898647" y="2331720"/>
            <a:ext cx="9509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3498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04488" y="2267712"/>
            <a:ext cx="960120" cy="36576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931920" y="2331720"/>
            <a:ext cx="9052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92040" y="2267712"/>
            <a:ext cx="1005840" cy="36576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919472" y="2331720"/>
            <a:ext cx="9509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200 µV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2651760"/>
            <a:ext cx="914400" cy="36576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01751" y="2715768"/>
            <a:ext cx="8595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S03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16152" y="2651760"/>
            <a:ext cx="822960" cy="36576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243584" y="2715768"/>
            <a:ext cx="768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4197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66543" y="2651760"/>
            <a:ext cx="777240" cy="36576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093975" y="2715768"/>
            <a:ext cx="7223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700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71215" y="2651760"/>
            <a:ext cx="1005840" cy="36576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898647" y="2715768"/>
            <a:ext cx="9509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3497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04488" y="2651760"/>
            <a:ext cx="960120" cy="36576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931920" y="2715768"/>
            <a:ext cx="9052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A000"/>
                </a:solidFill>
                <a:latin typeface="Calibri"/>
              </a:rPr>
              <a:t>P4, PO8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92040" y="2651760"/>
            <a:ext cx="1005840" cy="36576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919472" y="2715768"/>
            <a:ext cx="9509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100 µV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3035808"/>
            <a:ext cx="914400" cy="36576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01751" y="3099816"/>
            <a:ext cx="8595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S04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216152" y="3035808"/>
            <a:ext cx="822960" cy="36576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243584" y="3099816"/>
            <a:ext cx="768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4191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66543" y="3035808"/>
            <a:ext cx="777240" cy="36576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093975" y="3099816"/>
            <a:ext cx="7223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697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871215" y="3035808"/>
            <a:ext cx="1005840" cy="36576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898647" y="3099816"/>
            <a:ext cx="9509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3494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04488" y="3035808"/>
            <a:ext cx="960120" cy="36576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931920" y="3099816"/>
            <a:ext cx="9052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A000"/>
                </a:solidFill>
                <a:latin typeface="Calibri"/>
              </a:rPr>
              <a:t>PO8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892040" y="3035808"/>
            <a:ext cx="1005840" cy="36576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919472" y="3099816"/>
            <a:ext cx="9509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100 µV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3419856"/>
            <a:ext cx="914400" cy="36576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01751" y="3483864"/>
            <a:ext cx="8595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S05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216152" y="3419856"/>
            <a:ext cx="822960" cy="36576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243584" y="3483864"/>
            <a:ext cx="768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4112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66543" y="3419856"/>
            <a:ext cx="777240" cy="36576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093975" y="3483864"/>
            <a:ext cx="7223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680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871215" y="3419856"/>
            <a:ext cx="1005840" cy="36576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898647" y="3483864"/>
            <a:ext cx="9509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3432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904488" y="3419856"/>
            <a:ext cx="960120" cy="36576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931920" y="3483864"/>
            <a:ext cx="9052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A000"/>
                </a:solidFill>
                <a:latin typeface="Calibri"/>
              </a:rPr>
              <a:t>Oz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892040" y="3419856"/>
            <a:ext cx="1005840" cy="36576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919472" y="3483864"/>
            <a:ext cx="9509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100 µV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3803904"/>
            <a:ext cx="914400" cy="36576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01751" y="3867912"/>
            <a:ext cx="8595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S06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216152" y="3803904"/>
            <a:ext cx="822960" cy="36576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243584" y="3867912"/>
            <a:ext cx="768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4197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066543" y="3803904"/>
            <a:ext cx="777240" cy="36576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2093975" y="3867912"/>
            <a:ext cx="7223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700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871215" y="3803904"/>
            <a:ext cx="1005840" cy="36576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898647" y="3867912"/>
            <a:ext cx="9509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3497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904488" y="3803904"/>
            <a:ext cx="960120" cy="36576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931920" y="3867912"/>
            <a:ext cx="9052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892040" y="3803904"/>
            <a:ext cx="1005840" cy="36576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919472" y="3867912"/>
            <a:ext cx="9509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150 µV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" y="4187952"/>
            <a:ext cx="914400" cy="36576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01751" y="4251960"/>
            <a:ext cx="8595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S07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216152" y="4187952"/>
            <a:ext cx="822960" cy="36576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243584" y="4251960"/>
            <a:ext cx="768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4198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066543" y="4187952"/>
            <a:ext cx="777240" cy="36576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2093975" y="4251960"/>
            <a:ext cx="7223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698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871215" y="4187952"/>
            <a:ext cx="1005840" cy="36576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2898647" y="4251960"/>
            <a:ext cx="9509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3500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904488" y="4187952"/>
            <a:ext cx="960120" cy="36576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931920" y="4251960"/>
            <a:ext cx="9052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—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892040" y="4187952"/>
            <a:ext cx="1005840" cy="365760"/>
          </a:xfrm>
          <a:prstGeom prst="rect">
            <a:avLst/>
          </a:prstGeom>
          <a:solidFill>
            <a:srgbClr val="0F3F6B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919472" y="4251960"/>
            <a:ext cx="9509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150 µV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74320" y="4572000"/>
            <a:ext cx="914400" cy="36576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301751" y="4636008"/>
            <a:ext cx="8595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S08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216152" y="4572000"/>
            <a:ext cx="822960" cy="36576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1243584" y="4636008"/>
            <a:ext cx="768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4196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066543" y="4572000"/>
            <a:ext cx="777240" cy="36576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2093975" y="4636008"/>
            <a:ext cx="7223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700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871215" y="4572000"/>
            <a:ext cx="1005840" cy="36576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898647" y="4636008"/>
            <a:ext cx="9509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3496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904488" y="4572000"/>
            <a:ext cx="960120" cy="36576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3931920" y="4636008"/>
            <a:ext cx="9052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—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892040" y="4572000"/>
            <a:ext cx="1005840" cy="365760"/>
          </a:xfrm>
          <a:prstGeom prst="rect">
            <a:avLst/>
          </a:prstGeom>
          <a:solidFill>
            <a:srgbClr val="122840"/>
          </a:solidFill>
          <a:ln w="508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4919472" y="4636008"/>
            <a:ext cx="9509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Calibri"/>
              </a:rPr>
              <a:t>150 µV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74320" y="4956048"/>
            <a:ext cx="5623560" cy="365760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365760" y="502920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D6A0"/>
                </a:solidFill>
                <a:latin typeface="Calibri"/>
              </a:rPr>
              <a:t>TOTAL   33,489 epochs     5,575 target (16.65%)     27,914 non-target (83.35%)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897880" y="1188720"/>
            <a:ext cx="5943600" cy="3246120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5989320" y="126187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Raw .mat File Structure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035040" y="160020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1200" b="0">
                <a:solidFill>
                  <a:srgbClr val="00B4D8"/>
                </a:solidFill>
                <a:latin typeface="Calibri"/>
              </a:rPr>
              <a:t>scipy.io.loadmat('P300S01.mat')</a:t>
            </a:r>
          </a:p>
          <a:p>
            <a:pPr algn="l">
              <a:lnSpc>
                <a:spcPct val="114999"/>
              </a:lnSpc>
            </a:pPr>
            <a:endParaRPr sz="1200" b="0">
              <a:solidFill>
                <a:srgbClr val="00B4D8"/>
              </a:solidFill>
              <a:latin typeface="Calibri"/>
            </a:endParaRPr>
          </a:p>
          <a:p>
            <a:pPr algn="l">
              <a:lnSpc>
                <a:spcPct val="114999"/>
              </a:lnSpc>
            </a:pPr>
            <a:r>
              <a:rPr sz="1200" b="0">
                <a:solidFill>
                  <a:srgbClr val="06D6A0"/>
                </a:solidFill>
                <a:latin typeface="Calibri"/>
              </a:rPr>
              <a:t>  mat['data']['X']     → (358372, 8)</a:t>
            </a:r>
          </a:p>
          <a:p>
            <a:pPr algn="l">
              <a:lnSpc>
                <a:spcPct val="114999"/>
              </a:lnSpc>
            </a:pPr>
            <a:r>
              <a:rPr sz="1200" b="0">
                <a:solidFill>
                  <a:srgbClr val="B0C4DE"/>
                </a:solidFill>
                <a:latin typeface="Calibri"/>
              </a:rPr>
              <a:t>  Continuous EEG  [samples × channels]</a:t>
            </a:r>
          </a:p>
          <a:p>
            <a:pPr algn="l">
              <a:lnSpc>
                <a:spcPct val="114999"/>
              </a:lnSpc>
            </a:pPr>
            <a:r>
              <a:rPr sz="1200" b="0">
                <a:solidFill>
                  <a:srgbClr val="B0C4DE"/>
                </a:solidFill>
                <a:latin typeface="Calibri"/>
              </a:rPr>
              <a:t>  ~24 min @ 250 Hz</a:t>
            </a:r>
          </a:p>
          <a:p>
            <a:pPr algn="l">
              <a:lnSpc>
                <a:spcPct val="114999"/>
              </a:lnSpc>
            </a:pPr>
            <a:endParaRPr sz="1200" b="0">
              <a:solidFill>
                <a:srgbClr val="B0C4DE"/>
              </a:solidFill>
              <a:latin typeface="Calibri"/>
            </a:endParaRPr>
          </a:p>
          <a:p>
            <a:pPr algn="l">
              <a:lnSpc>
                <a:spcPct val="114999"/>
              </a:lnSpc>
            </a:pPr>
            <a:r>
              <a:rPr sz="1200" b="0">
                <a:solidFill>
                  <a:srgbClr val="06D6A0"/>
                </a:solidFill>
                <a:latin typeface="Calibri"/>
              </a:rPr>
              <a:t>  mat['data']['flash'] → (21495, 4)</a:t>
            </a:r>
          </a:p>
          <a:p>
            <a:pPr algn="l">
              <a:lnSpc>
                <a:spcPct val="114999"/>
              </a:lnSpc>
            </a:pPr>
            <a:r>
              <a:rPr sz="1200" b="0">
                <a:solidFill>
                  <a:srgbClr val="B0C4DE"/>
                </a:solidFill>
                <a:latin typeface="Calibri"/>
              </a:rPr>
              <a:t>  Col 0: onset sample index</a:t>
            </a:r>
          </a:p>
          <a:p>
            <a:pPr algn="l">
              <a:lnSpc>
                <a:spcPct val="114999"/>
              </a:lnSpc>
            </a:pPr>
            <a:r>
              <a:rPr sz="1200" b="0">
                <a:solidFill>
                  <a:srgbClr val="B0C4DE"/>
                </a:solidFill>
                <a:latin typeface="Calibri"/>
              </a:rPr>
              <a:t>  Col 1: row/col ID (12 rows+cols in 6×6 grid)</a:t>
            </a:r>
          </a:p>
          <a:p>
            <a:pPr algn="l">
              <a:lnSpc>
                <a:spcPct val="114999"/>
              </a:lnSpc>
            </a:pPr>
            <a:r>
              <a:rPr sz="1200" b="1">
                <a:solidFill>
                  <a:srgbClr val="FFA000"/>
                </a:solidFill>
                <a:latin typeface="Calibri"/>
              </a:rPr>
              <a:t>  Col 3: 1=NON-TARGET  2=TARGET  ← key!</a:t>
            </a:r>
          </a:p>
          <a:p>
            <a:pPr algn="l">
              <a:lnSpc>
                <a:spcPct val="114999"/>
              </a:lnSpc>
            </a:pPr>
            <a:endParaRPr sz="1200" b="1">
              <a:solidFill>
                <a:srgbClr val="FFA000"/>
              </a:solidFill>
              <a:latin typeface="Calibri"/>
            </a:endParaRPr>
          </a:p>
          <a:p>
            <a:pPr algn="l">
              <a:lnSpc>
                <a:spcPct val="114999"/>
              </a:lnSpc>
            </a:pPr>
            <a:r>
              <a:rPr sz="1200" b="0">
                <a:solidFill>
                  <a:srgbClr val="B0C4DE"/>
                </a:solidFill>
                <a:latin typeface="Calibri"/>
              </a:rPr>
              <a:t>  mat['Fs']        = 250 Hz</a:t>
            </a:r>
          </a:p>
          <a:p>
            <a:pPr algn="l">
              <a:lnSpc>
                <a:spcPct val="114999"/>
              </a:lnSpc>
            </a:pPr>
            <a:r>
              <a:rPr sz="1200" b="0">
                <a:solidFill>
                  <a:srgbClr val="B0C4DE"/>
                </a:solidFill>
                <a:latin typeface="Calibri"/>
              </a:rPr>
              <a:t>  mat['Trials']    = 35 words</a:t>
            </a:r>
          </a:p>
          <a:p>
            <a:pPr algn="l">
              <a:lnSpc>
                <a:spcPct val="114999"/>
              </a:lnSpc>
            </a:pPr>
            <a:r>
              <a:rPr sz="1200" b="0">
                <a:solidFill>
                  <a:srgbClr val="B0C4DE"/>
                </a:solidFill>
                <a:latin typeface="Calibri"/>
              </a:rPr>
              <a:t>  mat['Word']      = 'TOKENMIRARJUJU...'</a:t>
            </a:r>
          </a:p>
          <a:p>
            <a:pPr algn="l">
              <a:lnSpc>
                <a:spcPct val="114999"/>
              </a:lnSpc>
            </a:pPr>
            <a:r>
              <a:rPr sz="1200" b="0">
                <a:solidFill>
                  <a:srgbClr val="B0C4DE"/>
                </a:solidFill>
                <a:latin typeface="Calibri"/>
              </a:rPr>
              <a:t>  mat['channelNames'] = [FZ,CZ,P3,PZ,P4,PO7,PO8,OZ]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897880" y="4572000"/>
            <a:ext cx="5943600" cy="1051560"/>
          </a:xfrm>
          <a:prstGeom prst="rect">
            <a:avLst/>
          </a:prstGeom>
          <a:solidFill>
            <a:srgbClr val="052510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6035040" y="463600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6D6A0"/>
                </a:solidFill>
                <a:latin typeface="Calibri"/>
              </a:rPr>
              <a:t>EEG Channel Layout  (8 channels, 10-20 system)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035040" y="4919472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1100" b="0">
                <a:solidFill>
                  <a:srgbClr val="B0C4DE"/>
                </a:solidFill>
                <a:latin typeface="Calibri"/>
              </a:rPr>
              <a:t>Frontal: Fz, Cz       Parietal: P3, Pz, P4</a:t>
            </a:r>
          </a:p>
          <a:p>
            <a:pPr algn="l">
              <a:lnSpc>
                <a:spcPct val="114999"/>
              </a:lnSpc>
            </a:pPr>
            <a:r>
              <a:rPr sz="1100" b="0">
                <a:solidFill>
                  <a:srgbClr val="B0C4DE"/>
                </a:solidFill>
                <a:latin typeface="Calibri"/>
              </a:rPr>
              <a:t>Parieto-occipital: PO7, PO8       Occipital: Oz</a:t>
            </a:r>
          </a:p>
          <a:p>
            <a:pPr algn="l">
              <a:lnSpc>
                <a:spcPct val="114999"/>
              </a:lnSpc>
            </a:pPr>
            <a:r>
              <a:rPr sz="1100" b="0">
                <a:solidFill>
                  <a:srgbClr val="B0C4DE"/>
                </a:solidFill>
                <a:latin typeface="Calibri"/>
              </a:rPr>
              <a:t>→ Coverage chosen for P300 (max amplitude at Pz/Cz)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080"/>
                </a:solidFill>
                <a:latin typeface="Calibri"/>
              </a:rPr>
              <a:t>M.Tech Project  |  P300 EEG Classification  |  2025-26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End-to-End Flow: Loading → Preprocessing →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  <a:latin typeface="Calibri"/>
              </a:rPr>
              <a:t>Every transformation step with exact shapes and parameters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11612880" cy="274320"/>
          </a:xfrm>
          <a:prstGeom prst="rect">
            <a:avLst/>
          </a:prstGeom>
          <a:solidFill>
            <a:srgbClr val="0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170432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Calibri"/>
              </a:rPr>
              <a:t>STEP 1 — Data Loading  (scipy.io.loadmat)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170432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C4DE"/>
                </a:solidFill>
                <a:latin typeface="Calibri"/>
              </a:rPr>
              <a:t>P300S01.mat … P300S08.mat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463040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1100" b="0">
                <a:solidFill>
                  <a:srgbClr val="06D6A0"/>
                </a:solidFill>
                <a:latin typeface="Calibri"/>
              </a:rPr>
              <a:t>mat = scipy.io.loadmat('P300S0X.mat')</a:t>
            </a:r>
          </a:p>
          <a:p>
            <a:pPr algn="l">
              <a:lnSpc>
                <a:spcPct val="114999"/>
              </a:lnSpc>
            </a:pPr>
            <a:r>
              <a:rPr sz="1100" b="0">
                <a:solidFill>
                  <a:srgbClr val="B0C4DE"/>
                </a:solidFill>
                <a:latin typeface="Calibri"/>
              </a:rPr>
              <a:t>X_raw = mat['data']['X']       # (358372, 8)  continuous EEG  µV</a:t>
            </a:r>
          </a:p>
          <a:p>
            <a:pPr algn="l">
              <a:lnSpc>
                <a:spcPct val="114999"/>
              </a:lnSpc>
            </a:pPr>
            <a:r>
              <a:rPr sz="1100" b="0">
                <a:solidFill>
                  <a:srgbClr val="B0C4DE"/>
                </a:solidFill>
                <a:latin typeface="Calibri"/>
              </a:rPr>
              <a:t>flash = mat['data']['flash']   # (21495, 4)   stimulus event table</a:t>
            </a:r>
          </a:p>
          <a:p>
            <a:pPr algn="l">
              <a:lnSpc>
                <a:spcPct val="114999"/>
              </a:lnSpc>
            </a:pPr>
            <a:r>
              <a:rPr sz="1100" b="0">
                <a:solidFill>
                  <a:srgbClr val="B0C4DE"/>
                </a:solidFill>
                <a:latin typeface="Calibri"/>
              </a:rPr>
              <a:t>onset = flash[:, 0]            # sample index of each flash</a:t>
            </a:r>
          </a:p>
          <a:p>
            <a:pPr algn="l">
              <a:lnSpc>
                <a:spcPct val="114999"/>
              </a:lnSpc>
            </a:pPr>
            <a:r>
              <a:rPr sz="1100" b="0">
                <a:solidFill>
                  <a:srgbClr val="B0C4DE"/>
                </a:solidFill>
                <a:latin typeface="Calibri"/>
              </a:rPr>
              <a:t>label = flash[:, 3]            # 1=non-target  2=target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1100" b="1">
                <a:solidFill>
                  <a:srgbClr val="00B4D8"/>
                </a:solidFill>
                <a:latin typeface="Calibri"/>
              </a:rPr>
              <a:t>Output per subject:</a:t>
            </a:r>
          </a:p>
          <a:p>
            <a:pPr algn="l">
              <a:lnSpc>
                <a:spcPct val="114999"/>
              </a:lnSpc>
            </a:pPr>
            <a:r>
              <a:rPr sz="1100" b="0">
                <a:solidFill>
                  <a:srgbClr val="B0C4DE"/>
                </a:solidFill>
                <a:latin typeface="Calibri"/>
              </a:rPr>
              <a:t>  X_raw : (N_samples, 8)  raw continuous signal</a:t>
            </a:r>
          </a:p>
          <a:p>
            <a:pPr algn="l">
              <a:lnSpc>
                <a:spcPct val="114999"/>
              </a:lnSpc>
            </a:pPr>
            <a:r>
              <a:rPr sz="1100" b="0">
                <a:solidFill>
                  <a:srgbClr val="B0C4DE"/>
                </a:solidFill>
                <a:latin typeface="Calibri"/>
              </a:rPr>
              <a:t>  flash : (N_flashes, 4)  event markers</a:t>
            </a:r>
          </a:p>
          <a:p>
            <a:pPr algn="l">
              <a:lnSpc>
                <a:spcPct val="114999"/>
              </a:lnSpc>
            </a:pPr>
            <a:r>
              <a:rPr sz="1100" b="0">
                <a:solidFill>
                  <a:srgbClr val="B0C4DE"/>
                </a:solidFill>
                <a:latin typeface="Calibri"/>
              </a:rPr>
              <a:t>  ~21,500 flash events per subject</a:t>
            </a:r>
          </a:p>
          <a:p>
            <a:pPr algn="l">
              <a:lnSpc>
                <a:spcPct val="114999"/>
              </a:lnSpc>
            </a:pPr>
            <a:r>
              <a:rPr sz="1100" b="0">
                <a:solidFill>
                  <a:srgbClr val="B0C4DE"/>
                </a:solidFill>
                <a:latin typeface="Calibri"/>
              </a:rPr>
              <a:t>  ~358,000 raw samples (~24 min)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542032"/>
            <a:ext cx="11612880" cy="274320"/>
          </a:xfrm>
          <a:prstGeom prst="rect">
            <a:avLst/>
          </a:prstGeom>
          <a:solidFill>
            <a:srgbClr val="0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2569464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Calibri"/>
              </a:rPr>
              <a:t>STEP 2 — Preprocessing  (MNE-Python)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569464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C4DE"/>
                </a:solidFill>
                <a:latin typeface="Calibri"/>
              </a:rPr>
              <a:t>p300_preprocess_v2.py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80360"/>
            <a:ext cx="1883664" cy="1920240"/>
          </a:xfrm>
          <a:prstGeom prst="rect">
            <a:avLst/>
          </a:prstGeom>
          <a:solidFill>
            <a:srgbClr val="0F3F6B"/>
          </a:solidFill>
          <a:ln w="1524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292608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A000"/>
                </a:solidFill>
                <a:latin typeface="Calibri"/>
              </a:rPr>
              <a:t>2a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31821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Bad channel interpolation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3502152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Calibri"/>
              </a:rPr>
              <a:t>S03→P4,PO8   S04→PO8   S05→Oz
Spherical spline interpolation from neighbours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2880360"/>
            <a:ext cx="1883664" cy="1920240"/>
          </a:xfrm>
          <a:prstGeom prst="rect">
            <a:avLst/>
          </a:prstGeom>
          <a:solidFill>
            <a:srgbClr val="0F3F6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67712" y="292608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  <a:latin typeface="Calibri"/>
              </a:rPr>
              <a:t>2b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67712" y="31821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Bandpass filter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67712" y="3502152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Calibri"/>
              </a:rPr>
              <a:t>0.1 – 30 Hz  (FIR, Hamming window)
Removes DC drift + high-freq noise + muscle artefacts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2880360"/>
            <a:ext cx="1883664" cy="1920240"/>
          </a:xfrm>
          <a:prstGeom prst="rect">
            <a:avLst/>
          </a:prstGeom>
          <a:solidFill>
            <a:srgbClr val="0F3F6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87952" y="292608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  <a:latin typeface="Calibri"/>
              </a:rPr>
              <a:t>2c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87952" y="31821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Common Average Reference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87952" y="3502152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Calibri"/>
              </a:rPr>
              <a:t>Each sample -= mean across all 8 channels
Reduces global noise / electrode drift shared across channels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2880360"/>
            <a:ext cx="1883664" cy="1920240"/>
          </a:xfrm>
          <a:prstGeom prst="rect">
            <a:avLst/>
          </a:prstGeom>
          <a:solidFill>
            <a:srgbClr val="0F3F6B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08192" y="292608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D6A0"/>
                </a:solidFill>
                <a:latin typeface="Calibri"/>
              </a:rPr>
              <a:t>2d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08192" y="31821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Epoching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08192" y="3502152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Calibri"/>
              </a:rPr>
              <a:t>Onset ± window: −200 ms to +800 ms = 250 samples per epoch
(X_raw[onset−50 : onset+200, :])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80" y="2880360"/>
            <a:ext cx="1883664" cy="1920240"/>
          </a:xfrm>
          <a:prstGeom prst="rect">
            <a:avLst/>
          </a:prstGeom>
          <a:solidFill>
            <a:srgbClr val="0F3F6B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28432" y="292608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D6A0"/>
                </a:solidFill>
                <a:latin typeface="Calibri"/>
              </a:rPr>
              <a:t>2e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8432" y="31821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Baseline correction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28432" y="3502152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Calibri"/>
              </a:rPr>
              <a:t>Subtract mean of pre-stimulus window [−200 to 0 ms] per channel
Removes DC offset within each epoch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75520" y="2880360"/>
            <a:ext cx="1883664" cy="1920240"/>
          </a:xfrm>
          <a:prstGeom prst="rect">
            <a:avLst/>
          </a:prstGeom>
          <a:solidFill>
            <a:srgbClr val="0F3F6B"/>
          </a:solidFill>
          <a:ln w="1524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948672" y="292608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F476F"/>
                </a:solidFill>
                <a:latin typeface="Calibri"/>
              </a:rPr>
              <a:t>2f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48672" y="31821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Artifact rejection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48672" y="3502152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Calibri"/>
              </a:rPr>
              <a:t>Reject epoch if any sample &gt; threshold (100–200 µV, subject-specific)
S01 keeps ~4200, S05 most rejected (threshold 100 µV)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486460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6D6A0"/>
                </a:solidFill>
                <a:latin typeface="Calibri"/>
              </a:rPr>
              <a:t>Shape after epoching:  (n_epochs, 8, 250)   →   33,489 epochs total across 8 subjects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193792"/>
            <a:ext cx="11612880" cy="274320"/>
          </a:xfrm>
          <a:prstGeom prst="rect">
            <a:avLst/>
          </a:prstGeom>
          <a:solidFill>
            <a:srgbClr val="0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11480" y="5221224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Calibri"/>
              </a:rPr>
              <a:t>STEP 3 — Feature Extraction  (v1/v3 path)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5221224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C4DE"/>
                </a:solidFill>
                <a:latin typeface="Calibri"/>
              </a:rPr>
              <a:t>extract_p300_features_v2.py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532120"/>
            <a:ext cx="2651760" cy="1078992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79" y="5577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  <a:latin typeface="Calibri"/>
              </a:rPr>
              <a:t>Crop P300
window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79" y="59253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6D6A0"/>
                </a:solidFill>
                <a:latin typeface="Calibri"/>
              </a:rPr>
              <a:t>(n,8,250)
→(n,8,75)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79" y="62362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Calibri"/>
              </a:rPr>
              <a:t>200–500ms
samples 100:175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90088" y="5943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46120" y="5532120"/>
            <a:ext cx="2651760" cy="1078992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337560" y="5577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  <a:latin typeface="Calibri"/>
              </a:rPr>
              <a:t>Bin
averaging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37560" y="59253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6D6A0"/>
                </a:solidFill>
                <a:latin typeface="Calibri"/>
              </a:rPr>
              <a:t>(n,8,75)
→(n,8,15)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37560" y="62362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Calibri"/>
              </a:rPr>
              <a:t>15 bins
× 5 samples each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16168" y="5943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2200" y="5532120"/>
            <a:ext cx="2651760" cy="1078992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263640" y="5577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  <a:latin typeface="Calibri"/>
              </a:rPr>
              <a:t>Flatten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59253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6D6A0"/>
                </a:solidFill>
                <a:latin typeface="Calibri"/>
              </a:rPr>
              <a:t>(n,8,15)
→(n,120)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62362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Calibri"/>
              </a:rPr>
              <a:t>8 channels
× 15 bins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42248" y="5943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98280" y="5532120"/>
            <a:ext cx="2651760" cy="1078992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189720" y="5577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  <a:latin typeface="Calibri"/>
              </a:rPr>
              <a:t>Label
assignment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89720" y="59253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6D6A0"/>
                </a:solidFill>
                <a:latin typeface="Calibri"/>
              </a:rPr>
              <a:t>flash[:,3]==2
→ y=1 target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9720" y="62362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Calibri"/>
              </a:rPr>
              <a:t>flash[:,3]==1
→ y=0 non-tgt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080"/>
                </a:solidFill>
                <a:latin typeface="Calibri"/>
              </a:rPr>
              <a:t>M.Tech Project  |  P300 EEG Classification  |  2025-26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End-to-End Flow: Classification →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00B4D8"/>
                </a:solidFill>
                <a:latin typeface="Calibri"/>
              </a:rPr>
              <a:t>Two evaluation protocols: within-subject 5-fold CV and cross-subject LOSO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11612880" cy="274320"/>
          </a:xfrm>
          <a:prstGeom prst="rect">
            <a:avLst/>
          </a:prstGeom>
          <a:solidFill>
            <a:srgbClr val="0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17043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Calibri"/>
              </a:rPr>
              <a:t>STEP 4 — v4 Riemannian Classification  (inside each CV fold)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1170432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C4DE"/>
                </a:solidFill>
                <a:latin typeface="Calibri"/>
              </a:rPr>
              <a:t>lda_svc_classifier_v4.py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81328"/>
            <a:ext cx="2121408" cy="1325880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3192" y="1536192"/>
            <a:ext cx="19751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  <a:latin typeface="Calibri"/>
              </a:rPr>
              <a:t>XdawnCov
(pyriemann)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1901952"/>
            <a:ext cx="1975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6D6A0"/>
                </a:solidFill>
                <a:latin typeface="Calibri"/>
              </a:rPr>
              <a:t>(n,8,250)
→(n,9,9)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212848"/>
            <a:ext cx="19751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Calibri"/>
              </a:rPr>
              <a:t>nfilter=4
Fitted on train
only (no leakage)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9736" y="2148840"/>
            <a:ext cx="237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79192" y="1481328"/>
            <a:ext cx="2121408" cy="1325880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52344" y="1536192"/>
            <a:ext cx="19751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  <a:latin typeface="Calibri"/>
              </a:rPr>
              <a:t>Euclidean
Alignment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2344" y="1901952"/>
            <a:ext cx="1975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6D6A0"/>
                </a:solidFill>
                <a:latin typeface="Calibri"/>
              </a:rPr>
              <a:t>(n,9,9)
→(n,9,9)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52344" y="2212848"/>
            <a:ext cx="19751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Calibri"/>
              </a:rPr>
              <a:t>Whiten by
train mean cov
R⁻¹/² C R⁻¹/²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8888" y="2148840"/>
            <a:ext cx="237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38344" y="1481328"/>
            <a:ext cx="2121408" cy="1325880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11496" y="1536192"/>
            <a:ext cx="19751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  <a:latin typeface="Calibri"/>
              </a:rPr>
              <a:t>Tangent
Space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11496" y="1901952"/>
            <a:ext cx="1975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6D6A0"/>
                </a:solidFill>
                <a:latin typeface="Calibri"/>
              </a:rPr>
              <a:t>(n,9,9)
→(n,45)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1496" y="2212848"/>
            <a:ext cx="19751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Calibri"/>
              </a:rPr>
              <a:t>Riemannian log
at mean SPD
n(n+1)/2 = 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148840"/>
            <a:ext cx="237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97496" y="1481328"/>
            <a:ext cx="2121408" cy="1325880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70648" y="1536192"/>
            <a:ext cx="19751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  <a:latin typeface="Calibri"/>
              </a:rPr>
              <a:t>Standard
Scaler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0648" y="1901952"/>
            <a:ext cx="1975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6D6A0"/>
                </a:solidFill>
                <a:latin typeface="Calibri"/>
              </a:rPr>
              <a:t>(n,45)
→(n,45)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0648" y="2212848"/>
            <a:ext cx="19751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dirty="0">
                <a:solidFill>
                  <a:srgbClr val="B0C4DE"/>
                </a:solidFill>
                <a:latin typeface="Calibri"/>
              </a:rPr>
              <a:t>Zero mean
Unit variance
Fitted on train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7192" y="2148840"/>
            <a:ext cx="237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56648" y="1481328"/>
            <a:ext cx="2121408" cy="1325880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9829800" y="1536192"/>
            <a:ext cx="19751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  <a:latin typeface="Calibri"/>
              </a:rPr>
              <a:t>rLDA /
SVC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1901952"/>
            <a:ext cx="1975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6D6A0"/>
                </a:solidFill>
                <a:latin typeface="Calibri"/>
              </a:rPr>
              <a:t>(n,45)
→score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2212848"/>
            <a:ext cx="19751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Calibri"/>
              </a:rPr>
              <a:t>Shrinkage LDA
or linear SVC
predict_proba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291840"/>
            <a:ext cx="11612880" cy="274320"/>
          </a:xfrm>
          <a:prstGeom prst="rect">
            <a:avLst/>
          </a:prstGeom>
          <a:solidFill>
            <a:srgbClr val="0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1480" y="3319272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00B4D8"/>
                </a:solidFill>
                <a:latin typeface="Calibri"/>
              </a:rPr>
              <a:t>STEP 5 — Evaluation Protocols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630168"/>
            <a:ext cx="5394960" cy="1965960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5760" y="37033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Within-Subject CV  (WS)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79" y="4041648"/>
            <a:ext cx="50292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1200" b="0">
                <a:solidFill>
                  <a:srgbClr val="06D6A0"/>
                </a:solidFill>
                <a:latin typeface="Calibri"/>
              </a:rPr>
              <a:t>StratifiedKFold(n_splits=5)</a:t>
            </a:r>
          </a:p>
          <a:p>
            <a:pPr algn="l">
              <a:lnSpc>
                <a:spcPct val="114999"/>
              </a:lnSpc>
            </a:pPr>
            <a:endParaRPr sz="1200" b="0">
              <a:solidFill>
                <a:srgbClr val="06D6A0"/>
              </a:solidFill>
              <a:latin typeface="Calibri"/>
            </a:endParaRPr>
          </a:p>
          <a:p>
            <a:pPr algn="l">
              <a:lnSpc>
                <a:spcPct val="114999"/>
              </a:lnSpc>
            </a:pPr>
            <a:r>
              <a:rPr sz="1200" b="0">
                <a:solidFill>
                  <a:srgbClr val="B0C4DE"/>
                </a:solidFill>
                <a:latin typeface="Calibri"/>
              </a:rPr>
              <a:t>  • Split each subject's epochs 80/20</a:t>
            </a:r>
          </a:p>
          <a:p>
            <a:pPr algn="l">
              <a:lnSpc>
                <a:spcPct val="114999"/>
              </a:lnSpc>
            </a:pPr>
            <a:r>
              <a:rPr sz="1200" b="0">
                <a:solidFill>
                  <a:srgbClr val="B0C4DE"/>
                </a:solidFill>
                <a:latin typeface="Calibri"/>
              </a:rPr>
              <a:t>  • Train + test on SAME subject</a:t>
            </a:r>
          </a:p>
          <a:p>
            <a:pPr algn="l">
              <a:lnSpc>
                <a:spcPct val="114999"/>
              </a:lnSpc>
            </a:pPr>
            <a:r>
              <a:rPr sz="1200" b="0">
                <a:solidFill>
                  <a:srgbClr val="B0C4DE"/>
                </a:solidFill>
                <a:latin typeface="Calibri"/>
              </a:rPr>
              <a:t>  • Measures: upper bound performance</a:t>
            </a:r>
          </a:p>
          <a:p>
            <a:pPr algn="l">
              <a:lnSpc>
                <a:spcPct val="114999"/>
              </a:lnSpc>
            </a:pPr>
            <a:r>
              <a:rPr sz="1200" b="0">
                <a:solidFill>
                  <a:srgbClr val="B0C4DE"/>
                </a:solidFill>
                <a:latin typeface="Calibri"/>
              </a:rPr>
              <a:t>  • Stratified → preserves 16.7% ratio</a:t>
            </a:r>
          </a:p>
          <a:p>
            <a:pPr algn="l">
              <a:lnSpc>
                <a:spcPct val="114999"/>
              </a:lnSpc>
            </a:pPr>
            <a:r>
              <a:rPr sz="1200" b="0">
                <a:solidFill>
                  <a:srgbClr val="B0C4DE"/>
                </a:solidFill>
                <a:latin typeface="Calibri"/>
              </a:rPr>
              <a:t>  • Metrics averaged across 5 folds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3630168"/>
            <a:ext cx="5943600" cy="1965960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035040" y="37033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Leave-One-Subject-Out  (LOSO)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4041648"/>
            <a:ext cx="5669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1200" b="0">
                <a:solidFill>
                  <a:srgbClr val="06D6A0"/>
                </a:solidFill>
                <a:latin typeface="Calibri"/>
              </a:rPr>
              <a:t>LeaveOneGroupOut()  — 8 folds</a:t>
            </a:r>
          </a:p>
          <a:p>
            <a:pPr algn="l">
              <a:lnSpc>
                <a:spcPct val="114999"/>
              </a:lnSpc>
            </a:pPr>
            <a:endParaRPr sz="1200" b="0">
              <a:solidFill>
                <a:srgbClr val="06D6A0"/>
              </a:solidFill>
              <a:latin typeface="Calibri"/>
            </a:endParaRPr>
          </a:p>
          <a:p>
            <a:pPr algn="l">
              <a:lnSpc>
                <a:spcPct val="114999"/>
              </a:lnSpc>
            </a:pPr>
            <a:r>
              <a:rPr sz="1200" b="0">
                <a:solidFill>
                  <a:srgbClr val="B0C4DE"/>
                </a:solidFill>
                <a:latin typeface="Calibri"/>
              </a:rPr>
              <a:t>  • Train on 7 subjects  →  Test on 1</a:t>
            </a:r>
          </a:p>
          <a:p>
            <a:pPr algn="l">
              <a:lnSpc>
                <a:spcPct val="114999"/>
              </a:lnSpc>
            </a:pPr>
            <a:r>
              <a:rPr sz="1200" b="0">
                <a:solidFill>
                  <a:srgbClr val="B0C4DE"/>
                </a:solidFill>
                <a:latin typeface="Calibri"/>
              </a:rPr>
              <a:t>  • Each subject is test subject once</a:t>
            </a:r>
          </a:p>
          <a:p>
            <a:pPr algn="l">
              <a:lnSpc>
                <a:spcPct val="114999"/>
              </a:lnSpc>
            </a:pPr>
            <a:r>
              <a:rPr sz="1200" b="0">
                <a:solidFill>
                  <a:srgbClr val="B0C4DE"/>
                </a:solidFill>
                <a:latin typeface="Calibri"/>
              </a:rPr>
              <a:t>  • Measures: cross-subject generalisation</a:t>
            </a:r>
          </a:p>
          <a:p>
            <a:pPr algn="l">
              <a:lnSpc>
                <a:spcPct val="114999"/>
              </a:lnSpc>
            </a:pPr>
            <a:r>
              <a:rPr sz="1200" b="0">
                <a:solidFill>
                  <a:srgbClr val="B0C4DE"/>
                </a:solidFill>
                <a:latin typeface="Calibri"/>
              </a:rPr>
              <a:t>  • Hardest evaluation — no subject overlap</a:t>
            </a:r>
          </a:p>
          <a:p>
            <a:pPr algn="l">
              <a:lnSpc>
                <a:spcPct val="114999"/>
              </a:lnSpc>
            </a:pPr>
            <a:r>
              <a:rPr sz="1200" b="0">
                <a:solidFill>
                  <a:srgbClr val="B0C4DE"/>
                </a:solidFill>
                <a:latin typeface="Calibri"/>
              </a:rPr>
              <a:t>  • Threshold calibrated via Youden's J (v4)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669280"/>
            <a:ext cx="11612880" cy="274320"/>
          </a:xfrm>
          <a:prstGeom prst="rect">
            <a:avLst/>
          </a:prstGeom>
          <a:solidFill>
            <a:srgbClr val="0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11480" y="5696712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Calibri"/>
              </a:rPr>
              <a:t>STEP 6 — Metrics Reported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6086631"/>
            <a:ext cx="2724912" cy="685800"/>
          </a:xfrm>
          <a:prstGeom prst="rect">
            <a:avLst/>
          </a:prstGeom>
          <a:solidFill>
            <a:srgbClr val="0F3F6B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93192" y="6035040"/>
            <a:ext cx="2578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6D6A0"/>
                </a:solidFill>
                <a:latin typeface="Calibri"/>
              </a:rPr>
              <a:t>BAcc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3192" y="6254496"/>
            <a:ext cx="2578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  <a:latin typeface="Calibri"/>
              </a:rPr>
              <a:t>(TPR+TNR)/2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3192" y="6428232"/>
            <a:ext cx="2578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C4DE"/>
                </a:solidFill>
                <a:latin typeface="Calibri"/>
              </a:rPr>
              <a:t>Fair under imbalance
Random = 0.500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64408" y="6007608"/>
            <a:ext cx="2724912" cy="685800"/>
          </a:xfrm>
          <a:prstGeom prst="rect">
            <a:avLst/>
          </a:prstGeom>
          <a:solidFill>
            <a:srgbClr val="0F3F6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337560" y="6035040"/>
            <a:ext cx="2578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4D8"/>
                </a:solidFill>
                <a:latin typeface="Calibri"/>
              </a:rPr>
              <a:t>ROC-AUC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37560" y="6254496"/>
            <a:ext cx="2578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  <a:latin typeface="Calibri"/>
              </a:rPr>
              <a:t>roc_auc_score
(y, proba[:,1])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37560" y="6428232"/>
            <a:ext cx="2578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dirty="0">
                <a:solidFill>
                  <a:srgbClr val="B0C4DE"/>
                </a:solidFill>
                <a:latin typeface="Calibri"/>
              </a:rPr>
              <a:t>Threshold-free
Random = 0.500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08776" y="6007608"/>
            <a:ext cx="2724912" cy="685800"/>
          </a:xfrm>
          <a:prstGeom prst="rect">
            <a:avLst/>
          </a:prstGeom>
          <a:solidFill>
            <a:srgbClr val="0F3F6B"/>
          </a:solidFill>
          <a:ln w="1270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81928" y="6035040"/>
            <a:ext cx="2578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A000"/>
                </a:solidFill>
                <a:latin typeface="Calibri"/>
              </a:rPr>
              <a:t>PR-AUC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81928" y="6254496"/>
            <a:ext cx="2578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  <a:latin typeface="Calibri"/>
              </a:rPr>
              <a:t>average_precision
_score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81928" y="6428232"/>
            <a:ext cx="2578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C4DE"/>
                </a:solidFill>
                <a:latin typeface="Calibri"/>
              </a:rPr>
              <a:t>Minority-class sensitive
Random = 0.167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53144" y="6007608"/>
            <a:ext cx="2724912" cy="685800"/>
          </a:xfrm>
          <a:prstGeom prst="rect">
            <a:avLst/>
          </a:prstGeom>
          <a:solidFill>
            <a:srgbClr val="0F3F6B"/>
          </a:solidFill>
          <a:ln w="1270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226296" y="6035040"/>
            <a:ext cx="2578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B0C4DE"/>
                </a:solidFill>
                <a:latin typeface="Calibri"/>
              </a:rPr>
              <a:t>F1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26296" y="6254496"/>
            <a:ext cx="2578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  <a:latin typeface="Calibri"/>
              </a:rPr>
              <a:t>2·P·R/(P+R)
on target class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26296" y="6428232"/>
            <a:ext cx="2578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C4DE"/>
                </a:solidFill>
                <a:latin typeface="Calibri"/>
              </a:rPr>
              <a:t>Calibrated result only
Low under imbalance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080"/>
                </a:solidFill>
                <a:latin typeface="Calibri"/>
              </a:rPr>
              <a:t>M.Tech Project  |  P300 EEG Classification  |  2025-26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560320"/>
            <a:ext cx="57607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B4D8"/>
                </a:solidFill>
                <a:latin typeface="Calibri"/>
              </a:rPr>
              <a:t>Questions?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657600"/>
            <a:ext cx="10360152" cy="1645920"/>
          </a:xfrm>
          <a:prstGeom prst="rect">
            <a:avLst/>
          </a:prstGeom>
          <a:solidFill>
            <a:srgbClr val="0A2238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DE"/>
                </a:solidFill>
                <a:latin typeface="Calibri"/>
              </a:rPr>
              <a:t>Best 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0690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6D6A0"/>
                </a:solidFill>
                <a:latin typeface="Calibri"/>
              </a:rPr>
              <a:t>BAcc 0.612
AUC 0.762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7490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DE"/>
                </a:solidFill>
                <a:latin typeface="Calibri"/>
              </a:rPr>
              <a:t>Best LOSO AUC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40690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B4D8"/>
                </a:solidFill>
                <a:latin typeface="Calibri"/>
              </a:rPr>
              <a:t>0.648
(nf=4 Riem)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7490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DE"/>
                </a:solidFill>
                <a:latin typeface="Calibri"/>
              </a:rPr>
              <a:t>Calibrated LOSO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40690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6D6A0"/>
                </a:solidFill>
                <a:latin typeface="Calibri"/>
              </a:rPr>
              <a:t>BAcc 0.605
AUC 0.648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7490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DE"/>
                </a:solidFill>
                <a:latin typeface="Calibri"/>
              </a:rPr>
              <a:t>PR-AUC lift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40690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A000"/>
                </a:solidFill>
                <a:latin typeface="Calibri"/>
              </a:rPr>
              <a:t>0.296
1.78× chance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C4DE"/>
                </a:solidFill>
                <a:latin typeface="Calibri"/>
              </a:rPr>
              <a:t>M.Tech Project  |  P300 EEG-Based BCI  |  2025–26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2942</Words>
  <Application>Microsoft Macintosh PowerPoint</Application>
  <PresentationFormat>Custom</PresentationFormat>
  <Paragraphs>581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Sizon Nayak</cp:lastModifiedBy>
  <cp:revision>2</cp:revision>
  <dcterms:created xsi:type="dcterms:W3CDTF">2013-01-27T09:14:16Z</dcterms:created>
  <dcterms:modified xsi:type="dcterms:W3CDTF">2026-02-17T07:06:02Z</dcterms:modified>
  <cp:category/>
</cp:coreProperties>
</file>